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21"/>
    <p:sldId id="257" r:id="rId22"/>
    <p:sldId id="258" r:id="rId23"/>
    <p:sldId id="259" r:id="rId24"/>
    <p:sldId id="260" r:id="rId25"/>
    <p:sldId id="261" r:id="rId26"/>
    <p:sldId id="262" r:id="rId27"/>
    <p:sldId id="263" r:id="rId28"/>
    <p:sldId id="264" r:id="rId29"/>
  </p:sldIdLst>
  <p:sldSz cx="18288000" cy="10287000"/>
  <p:notesSz cx="6858000" cy="9144000"/>
  <p:embeddedFontLst>
    <p:embeddedFont>
      <p:font typeface="Nunito" charset="1" panose="00000500000000000000"/>
      <p:regular r:id="rId6"/>
    </p:embeddedFont>
    <p:embeddedFont>
      <p:font typeface="Nunito Bold" charset="1" panose="00000800000000000000"/>
      <p:regular r:id="rId7"/>
    </p:embeddedFont>
    <p:embeddedFont>
      <p:font typeface="Arimo" charset="1" panose="020B0604020202020204"/>
      <p:regular r:id="rId8"/>
    </p:embeddedFont>
    <p:embeddedFont>
      <p:font typeface="Arimo Bold" charset="1" panose="020B0704020202020204"/>
      <p:regular r:id="rId9"/>
    </p:embeddedFont>
    <p:embeddedFont>
      <p:font typeface="Arimo Italics" charset="1" panose="020B0604020202090204"/>
      <p:regular r:id="rId10"/>
    </p:embeddedFont>
    <p:embeddedFont>
      <p:font typeface="Arimo Bold Italics" charset="1" panose="020B0704020202090204"/>
      <p:regular r:id="rId11"/>
    </p:embeddedFont>
    <p:embeddedFont>
      <p:font typeface="Open Sans" charset="1" panose="020B0606030504020204"/>
      <p:regular r:id="rId12"/>
    </p:embeddedFont>
    <p:embeddedFont>
      <p:font typeface="Open Sans Bold" charset="1" panose="020B0806030504020204"/>
      <p:regular r:id="rId13"/>
    </p:embeddedFont>
    <p:embeddedFont>
      <p:font typeface="Open Sans Italics" charset="1" panose="020B0606030504020204"/>
      <p:regular r:id="rId14"/>
    </p:embeddedFont>
    <p:embeddedFont>
      <p:font typeface="Open Sans Bold Italics" charset="1" panose="020B0806030504020204"/>
      <p:regular r:id="rId15"/>
    </p:embeddedFont>
    <p:embeddedFont>
      <p:font typeface="Muli Extra Light" charset="1" panose="00000300000000000000"/>
      <p:regular r:id="rId16"/>
    </p:embeddedFont>
    <p:embeddedFont>
      <p:font typeface="Muli Extra Light Bold" charset="1" panose="00000400000000000000"/>
      <p:regular r:id="rId17"/>
    </p:embeddedFont>
    <p:embeddedFont>
      <p:font typeface="Muli Extra Light Italics" charset="1" panose="00000300000000000000"/>
      <p:regular r:id="rId18"/>
    </p:embeddedFont>
    <p:embeddedFont>
      <p:font typeface="Muli Extra Light Bold Italics" charset="1" panose="00000400000000000000"/>
      <p:regular r:id="rId19"/>
    </p:embeddedFont>
    <p:embeddedFont>
      <p:font typeface="Squada One" charset="1" panose="02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slides/slide1.xml" Type="http://schemas.openxmlformats.org/officeDocument/2006/relationships/slide"/><Relationship Id="rId22" Target="slides/slide2.xml" Type="http://schemas.openxmlformats.org/officeDocument/2006/relationships/slide"/><Relationship Id="rId23" Target="slides/slide3.xml" Type="http://schemas.openxmlformats.org/officeDocument/2006/relationships/slide"/><Relationship Id="rId24" Target="slides/slide4.xml" Type="http://schemas.openxmlformats.org/officeDocument/2006/relationships/slide"/><Relationship Id="rId25" Target="slides/slide5.xml" Type="http://schemas.openxmlformats.org/officeDocument/2006/relationships/slide"/><Relationship Id="rId26" Target="slides/slide6.xml" Type="http://schemas.openxmlformats.org/officeDocument/2006/relationships/slide"/><Relationship Id="rId27" Target="slides/slide7.xml" Type="http://schemas.openxmlformats.org/officeDocument/2006/relationships/slide"/><Relationship Id="rId28" Target="slides/slide8.xml" Type="http://schemas.openxmlformats.org/officeDocument/2006/relationships/slide"/><Relationship Id="rId29" Target="slides/slide9.xml" Type="http://schemas.openxmlformats.org/officeDocument/2006/relationship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AutoShape 2" id="2"/>
          <p:cNvSpPr/>
          <p:nvPr/>
        </p:nvSpPr>
        <p:spPr>
          <a:xfrm rot="-2700000">
            <a:off x="-5122216" y="3190239"/>
            <a:ext cx="15794455" cy="14957"/>
          </a:xfrm>
          <a:prstGeom prst="rect">
            <a:avLst/>
          </a:prstGeom>
          <a:solidFill>
            <a:srgbClr val="FFFFFF"/>
          </a:solidFill>
        </p:spPr>
      </p:sp>
      <p:sp>
        <p:nvSpPr>
          <p:cNvPr name="AutoShape 3" id="3"/>
          <p:cNvSpPr/>
          <p:nvPr/>
        </p:nvSpPr>
        <p:spPr>
          <a:xfrm rot="-2700000">
            <a:off x="2952317" y="-548699"/>
            <a:ext cx="5289562" cy="184970"/>
          </a:xfrm>
          <a:prstGeom prst="rect">
            <a:avLst/>
          </a:prstGeom>
          <a:solidFill>
            <a:srgbClr val="FFFFFF"/>
          </a:solidFill>
        </p:spPr>
      </p:sp>
      <p:sp>
        <p:nvSpPr>
          <p:cNvPr name="AutoShape 4" id="4"/>
          <p:cNvSpPr/>
          <p:nvPr/>
        </p:nvSpPr>
        <p:spPr>
          <a:xfrm rot="-2700000">
            <a:off x="9705446" y="9183666"/>
            <a:ext cx="12443199" cy="11783"/>
          </a:xfrm>
          <a:prstGeom prst="rect">
            <a:avLst/>
          </a:prstGeom>
          <a:solidFill>
            <a:srgbClr val="FFFFFF"/>
          </a:solidFill>
        </p:spPr>
      </p:sp>
      <p:pic>
        <p:nvPicPr>
          <p:cNvPr name="Picture 5" id="5"/>
          <p:cNvPicPr>
            <a:picLocks noChangeAspect="true"/>
          </p:cNvPicPr>
          <p:nvPr/>
        </p:nvPicPr>
        <p:blipFill>
          <a:blip r:embed="rId2"/>
          <a:srcRect l="19568" t="0" r="27390" b="0"/>
          <a:stretch>
            <a:fillRect/>
          </a:stretch>
        </p:blipFill>
        <p:spPr>
          <a:xfrm flipH="false" flipV="false" rot="0">
            <a:off x="11003495" y="0"/>
            <a:ext cx="7284505" cy="10287000"/>
          </a:xfrm>
          <a:prstGeom prst="rect">
            <a:avLst/>
          </a:prstGeom>
        </p:spPr>
      </p:pic>
      <p:grpSp>
        <p:nvGrpSpPr>
          <p:cNvPr name="Group 6" id="6"/>
          <p:cNvGrpSpPr/>
          <p:nvPr/>
        </p:nvGrpSpPr>
        <p:grpSpPr>
          <a:xfrm rot="0">
            <a:off x="1447862" y="7904563"/>
            <a:ext cx="3623522" cy="1631366"/>
            <a:chOff x="0" y="0"/>
            <a:chExt cx="1225735" cy="551845"/>
          </a:xfrm>
        </p:grpSpPr>
        <p:sp>
          <p:nvSpPr>
            <p:cNvPr name="Freeform 7" id="7"/>
            <p:cNvSpPr/>
            <p:nvPr/>
          </p:nvSpPr>
          <p:spPr>
            <a:xfrm>
              <a:off x="0" y="0"/>
              <a:ext cx="1225735" cy="551845"/>
            </a:xfrm>
            <a:custGeom>
              <a:avLst/>
              <a:gdLst/>
              <a:ahLst/>
              <a:cxnLst/>
              <a:rect r="r" b="b" t="t" l="l"/>
              <a:pathLst>
                <a:path h="551845" w="1225735">
                  <a:moveTo>
                    <a:pt x="0" y="0"/>
                  </a:moveTo>
                  <a:lnTo>
                    <a:pt x="1225735" y="0"/>
                  </a:lnTo>
                  <a:lnTo>
                    <a:pt x="1225735" y="551845"/>
                  </a:lnTo>
                  <a:lnTo>
                    <a:pt x="0" y="551845"/>
                  </a:lnTo>
                  <a:close/>
                </a:path>
              </a:pathLst>
            </a:custGeom>
            <a:solidFill>
              <a:srgbClr val="5CE1E6"/>
            </a:solidFill>
          </p:spPr>
        </p:sp>
      </p:grpSp>
      <p:grpSp>
        <p:nvGrpSpPr>
          <p:cNvPr name="Group 8" id="8"/>
          <p:cNvGrpSpPr/>
          <p:nvPr/>
        </p:nvGrpSpPr>
        <p:grpSpPr>
          <a:xfrm rot="0">
            <a:off x="1447862" y="7391386"/>
            <a:ext cx="3883301" cy="2465143"/>
            <a:chOff x="0" y="0"/>
            <a:chExt cx="5177734" cy="3286857"/>
          </a:xfrm>
        </p:grpSpPr>
        <p:sp>
          <p:nvSpPr>
            <p:cNvPr name="TextBox 9" id="9"/>
            <p:cNvSpPr txBox="true"/>
            <p:nvPr/>
          </p:nvSpPr>
          <p:spPr>
            <a:xfrm rot="0">
              <a:off x="0" y="678134"/>
              <a:ext cx="5177734" cy="2134120"/>
            </a:xfrm>
            <a:prstGeom prst="rect">
              <a:avLst/>
            </a:prstGeom>
          </p:spPr>
          <p:txBody>
            <a:bodyPr anchor="t" rtlCol="false" tIns="0" lIns="0" bIns="0" rIns="0">
              <a:spAutoFit/>
            </a:bodyPr>
            <a:lstStyle/>
            <a:p>
              <a:pPr>
                <a:lnSpc>
                  <a:spcPts val="5822"/>
                </a:lnSpc>
              </a:pPr>
              <a:r>
                <a:rPr lang="en-US" sz="6542">
                  <a:solidFill>
                    <a:srgbClr val="191919"/>
                  </a:solidFill>
                  <a:latin typeface="Squada One Bold"/>
                </a:rPr>
                <a:t>DISC 212-S1 GROUP 5</a:t>
              </a:r>
            </a:p>
          </p:txBody>
        </p:sp>
        <p:sp>
          <p:nvSpPr>
            <p:cNvPr name="TextBox 10" id="10"/>
            <p:cNvSpPr txBox="true"/>
            <p:nvPr/>
          </p:nvSpPr>
          <p:spPr>
            <a:xfrm rot="0">
              <a:off x="0" y="-19050"/>
              <a:ext cx="5177734" cy="266758"/>
            </a:xfrm>
            <a:prstGeom prst="rect">
              <a:avLst/>
            </a:prstGeom>
          </p:spPr>
          <p:txBody>
            <a:bodyPr anchor="t" rtlCol="false" tIns="0" lIns="0" bIns="0" rIns="0">
              <a:spAutoFit/>
            </a:bodyPr>
            <a:lstStyle/>
            <a:p>
              <a:pPr algn="ctr">
                <a:lnSpc>
                  <a:spcPts val="1706"/>
                </a:lnSpc>
              </a:pPr>
            </a:p>
          </p:txBody>
        </p:sp>
        <p:sp>
          <p:nvSpPr>
            <p:cNvPr name="TextBox 11" id="11"/>
            <p:cNvSpPr txBox="true"/>
            <p:nvPr/>
          </p:nvSpPr>
          <p:spPr>
            <a:xfrm rot="0">
              <a:off x="0" y="3036699"/>
              <a:ext cx="5177734" cy="250158"/>
            </a:xfrm>
            <a:prstGeom prst="rect">
              <a:avLst/>
            </a:prstGeom>
          </p:spPr>
          <p:txBody>
            <a:bodyPr anchor="t" rtlCol="false" tIns="0" lIns="0" bIns="0" rIns="0">
              <a:spAutoFit/>
            </a:bodyPr>
            <a:lstStyle/>
            <a:p>
              <a:pPr algn="ctr">
                <a:lnSpc>
                  <a:spcPts val="1592"/>
                </a:lnSpc>
              </a:pPr>
            </a:p>
          </p:txBody>
        </p:sp>
      </p:grpSp>
      <p:sp>
        <p:nvSpPr>
          <p:cNvPr name="TextBox 12" id="12"/>
          <p:cNvSpPr txBox="true"/>
          <p:nvPr/>
        </p:nvSpPr>
        <p:spPr>
          <a:xfrm rot="0">
            <a:off x="539814" y="2685734"/>
            <a:ext cx="10114568" cy="3348089"/>
          </a:xfrm>
          <a:prstGeom prst="rect">
            <a:avLst/>
          </a:prstGeom>
        </p:spPr>
        <p:txBody>
          <a:bodyPr anchor="t" rtlCol="false" tIns="0" lIns="0" bIns="0" rIns="0">
            <a:spAutoFit/>
          </a:bodyPr>
          <a:lstStyle/>
          <a:p>
            <a:pPr algn="ctr">
              <a:lnSpc>
                <a:spcPts val="12869"/>
              </a:lnSpc>
              <a:spcBef>
                <a:spcPct val="0"/>
              </a:spcBef>
            </a:pPr>
            <a:r>
              <a:rPr lang="en-US" sz="12869">
                <a:solidFill>
                  <a:srgbClr val="FFFFFF"/>
                </a:solidFill>
                <a:latin typeface="Nunito Bold"/>
              </a:rPr>
              <a:t>LUMS ATM Optimization</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91919"/>
        </a:solidFill>
      </p:bgPr>
    </p:bg>
    <p:spTree>
      <p:nvGrpSpPr>
        <p:cNvPr id="1" name=""/>
        <p:cNvGrpSpPr/>
        <p:nvPr/>
      </p:nvGrpSpPr>
      <p:grpSpPr>
        <a:xfrm>
          <a:off x="0" y="0"/>
          <a:ext cx="0" cy="0"/>
          <a:chOff x="0" y="0"/>
          <a:chExt cx="0" cy="0"/>
        </a:xfrm>
      </p:grpSpPr>
      <p:sp>
        <p:nvSpPr>
          <p:cNvPr name="AutoShape 2" id="2"/>
          <p:cNvSpPr/>
          <p:nvPr/>
        </p:nvSpPr>
        <p:spPr>
          <a:xfrm rot="0">
            <a:off x="-157658" y="0"/>
            <a:ext cx="13487400" cy="10605291"/>
          </a:xfrm>
          <a:prstGeom prst="rect">
            <a:avLst/>
          </a:prstGeom>
          <a:solidFill>
            <a:srgbClr val="292929"/>
          </a:solidFill>
        </p:spPr>
      </p:sp>
      <p:grpSp>
        <p:nvGrpSpPr>
          <p:cNvPr name="Group 3" id="3"/>
          <p:cNvGrpSpPr/>
          <p:nvPr/>
        </p:nvGrpSpPr>
        <p:grpSpPr>
          <a:xfrm rot="0">
            <a:off x="676843" y="384071"/>
            <a:ext cx="3352302" cy="938624"/>
            <a:chOff x="0" y="0"/>
            <a:chExt cx="1133989" cy="317510"/>
          </a:xfrm>
        </p:grpSpPr>
        <p:sp>
          <p:nvSpPr>
            <p:cNvPr name="Freeform 4" id="4"/>
            <p:cNvSpPr/>
            <p:nvPr/>
          </p:nvSpPr>
          <p:spPr>
            <a:xfrm>
              <a:off x="0" y="0"/>
              <a:ext cx="1133988" cy="317510"/>
            </a:xfrm>
            <a:custGeom>
              <a:avLst/>
              <a:gdLst/>
              <a:ahLst/>
              <a:cxnLst/>
              <a:rect r="r" b="b" t="t" l="l"/>
              <a:pathLst>
                <a:path h="317510" w="1133988">
                  <a:moveTo>
                    <a:pt x="0" y="0"/>
                  </a:moveTo>
                  <a:lnTo>
                    <a:pt x="1133988" y="0"/>
                  </a:lnTo>
                  <a:lnTo>
                    <a:pt x="1133988" y="317510"/>
                  </a:lnTo>
                  <a:lnTo>
                    <a:pt x="0" y="317510"/>
                  </a:lnTo>
                  <a:close/>
                </a:path>
              </a:pathLst>
            </a:custGeom>
            <a:solidFill>
              <a:srgbClr val="5CE1E6"/>
            </a:solidFill>
          </p:spPr>
        </p:sp>
      </p:grpSp>
      <p:sp>
        <p:nvSpPr>
          <p:cNvPr name="TextBox 5" id="5"/>
          <p:cNvSpPr txBox="true"/>
          <p:nvPr/>
        </p:nvSpPr>
        <p:spPr>
          <a:xfrm rot="0">
            <a:off x="834672" y="317396"/>
            <a:ext cx="3352302" cy="2098457"/>
          </a:xfrm>
          <a:prstGeom prst="rect">
            <a:avLst/>
          </a:prstGeom>
        </p:spPr>
        <p:txBody>
          <a:bodyPr anchor="t" rtlCol="false" tIns="0" lIns="0" bIns="0" rIns="0">
            <a:spAutoFit/>
          </a:bodyPr>
          <a:lstStyle/>
          <a:p>
            <a:pPr>
              <a:lnSpc>
                <a:spcPts val="8319"/>
              </a:lnSpc>
            </a:pPr>
            <a:r>
              <a:rPr lang="en-US" sz="6399">
                <a:solidFill>
                  <a:srgbClr val="191919"/>
                </a:solidFill>
                <a:latin typeface="Nunito Bold"/>
              </a:rPr>
              <a:t>Problem </a:t>
            </a:r>
          </a:p>
          <a:p>
            <a:pPr>
              <a:lnSpc>
                <a:spcPts val="8320"/>
              </a:lnSpc>
            </a:pPr>
          </a:p>
        </p:txBody>
      </p:sp>
      <p:sp>
        <p:nvSpPr>
          <p:cNvPr name="TextBox 6" id="6"/>
          <p:cNvSpPr txBox="true"/>
          <p:nvPr/>
        </p:nvSpPr>
        <p:spPr>
          <a:xfrm rot="0">
            <a:off x="470917" y="1986700"/>
            <a:ext cx="12230251" cy="6112351"/>
          </a:xfrm>
          <a:prstGeom prst="rect">
            <a:avLst/>
          </a:prstGeom>
        </p:spPr>
        <p:txBody>
          <a:bodyPr anchor="t" rtlCol="false" tIns="0" lIns="0" bIns="0" rIns="0">
            <a:spAutoFit/>
          </a:bodyPr>
          <a:lstStyle/>
          <a:p>
            <a:pPr>
              <a:lnSpc>
                <a:spcPts val="3999"/>
              </a:lnSpc>
            </a:pPr>
            <a:r>
              <a:rPr lang="en-US" sz="3999">
                <a:solidFill>
                  <a:srgbClr val="FFFFFF"/>
                </a:solidFill>
                <a:latin typeface="Nunito"/>
              </a:rPr>
              <a:t>Students complain about inefficcient ATM's in LUMS:</a:t>
            </a:r>
          </a:p>
          <a:p>
            <a:pPr>
              <a:lnSpc>
                <a:spcPts val="3999"/>
              </a:lnSpc>
            </a:pPr>
          </a:p>
          <a:p>
            <a:pPr marL="863599" indent="-431800" lvl="1">
              <a:lnSpc>
                <a:spcPts val="3999"/>
              </a:lnSpc>
              <a:buFont typeface="Arial"/>
              <a:buChar char="•"/>
            </a:pPr>
            <a:r>
              <a:rPr lang="en-US" sz="3999">
                <a:solidFill>
                  <a:srgbClr val="FFFFFF"/>
                </a:solidFill>
                <a:latin typeface="Nunito"/>
              </a:rPr>
              <a:t>Superstore ATM fixed timings</a:t>
            </a:r>
          </a:p>
          <a:p>
            <a:pPr>
              <a:lnSpc>
                <a:spcPts val="3999"/>
              </a:lnSpc>
            </a:pPr>
          </a:p>
          <a:p>
            <a:pPr marL="863599" indent="-431800" lvl="1">
              <a:lnSpc>
                <a:spcPts val="3999"/>
              </a:lnSpc>
              <a:buFont typeface="Arial"/>
              <a:buChar char="•"/>
            </a:pPr>
            <a:r>
              <a:rPr lang="en-US" sz="3999">
                <a:solidFill>
                  <a:srgbClr val="FFFFFF"/>
                </a:solidFill>
                <a:latin typeface="Nunito"/>
              </a:rPr>
              <a:t>Frequent traffic at PDC ATM</a:t>
            </a:r>
          </a:p>
          <a:p>
            <a:pPr>
              <a:lnSpc>
                <a:spcPts val="3999"/>
              </a:lnSpc>
            </a:pPr>
          </a:p>
          <a:p>
            <a:pPr marL="863599" indent="-431800" lvl="1">
              <a:lnSpc>
                <a:spcPts val="3999"/>
              </a:lnSpc>
              <a:buFont typeface="Arial"/>
              <a:buChar char="•"/>
            </a:pPr>
            <a:r>
              <a:rPr lang="en-US" sz="3999">
                <a:solidFill>
                  <a:srgbClr val="FFFFFF"/>
                </a:solidFill>
                <a:latin typeface="Nunito"/>
              </a:rPr>
              <a:t>SDSB and SAHSOL ATM's often underused and inconvinient.</a:t>
            </a:r>
          </a:p>
          <a:p>
            <a:pPr>
              <a:lnSpc>
                <a:spcPts val="3999"/>
              </a:lnSpc>
            </a:pPr>
          </a:p>
          <a:p>
            <a:pPr>
              <a:lnSpc>
                <a:spcPts val="3999"/>
              </a:lnSpc>
            </a:pPr>
            <a:r>
              <a:rPr lang="en-US" sz="3999">
                <a:solidFill>
                  <a:srgbClr val="FFFFFF"/>
                </a:solidFill>
                <a:latin typeface="Nunito"/>
              </a:rPr>
              <a:t>Our model aims to place a new ATM in LUMS that would maximise utility while being optimally distant from existing ATM's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38" t="1888" r="38" b="0"/>
          <a:stretch>
            <a:fillRect/>
          </a:stretch>
        </p:blipFill>
        <p:spPr>
          <a:xfrm flipH="false" flipV="false" rot="0">
            <a:off x="12822998" y="683411"/>
            <a:ext cx="5029800" cy="4454983"/>
          </a:xfrm>
          <a:prstGeom prst="rect">
            <a:avLst/>
          </a:prstGeom>
        </p:spPr>
      </p:pic>
      <p:pic>
        <p:nvPicPr>
          <p:cNvPr name="Picture 3" id="3"/>
          <p:cNvPicPr>
            <a:picLocks noChangeAspect="true"/>
          </p:cNvPicPr>
          <p:nvPr/>
        </p:nvPicPr>
        <p:blipFill>
          <a:blip r:embed="rId3"/>
          <a:srcRect l="7761" t="0" r="21001" b="16910"/>
          <a:stretch>
            <a:fillRect/>
          </a:stretch>
        </p:blipFill>
        <p:spPr>
          <a:xfrm flipH="false" flipV="false" rot="0">
            <a:off x="12867955" y="5240569"/>
            <a:ext cx="4939886" cy="4379008"/>
          </a:xfrm>
          <a:prstGeom prst="rect">
            <a:avLst/>
          </a:prstGeom>
        </p:spPr>
      </p:pic>
      <p:sp>
        <p:nvSpPr>
          <p:cNvPr name="TextBox 4" id="4"/>
          <p:cNvSpPr txBox="true"/>
          <p:nvPr/>
        </p:nvSpPr>
        <p:spPr>
          <a:xfrm rot="0">
            <a:off x="467497" y="416251"/>
            <a:ext cx="11729828" cy="9320461"/>
          </a:xfrm>
          <a:prstGeom prst="rect">
            <a:avLst/>
          </a:prstGeom>
        </p:spPr>
        <p:txBody>
          <a:bodyPr anchor="t" rtlCol="false" tIns="0" lIns="0" bIns="0" rIns="0">
            <a:spAutoFit/>
          </a:bodyPr>
          <a:lstStyle/>
          <a:p>
            <a:pPr>
              <a:lnSpc>
                <a:spcPts val="9978"/>
              </a:lnSpc>
            </a:pPr>
          </a:p>
          <a:p>
            <a:pPr>
              <a:lnSpc>
                <a:spcPts val="9978"/>
              </a:lnSpc>
            </a:pPr>
          </a:p>
          <a:p>
            <a:pPr>
              <a:lnSpc>
                <a:spcPts val="9978"/>
              </a:lnSpc>
              <a:spcBef>
                <a:spcPct val="0"/>
              </a:spcBef>
            </a:pPr>
          </a:p>
          <a:p>
            <a:pPr marL="840328" indent="-420164" lvl="1">
              <a:lnSpc>
                <a:spcPts val="5449"/>
              </a:lnSpc>
              <a:buFont typeface="Arial"/>
              <a:buChar char="•"/>
            </a:pPr>
            <a:r>
              <a:rPr lang="en-US" sz="3892">
                <a:solidFill>
                  <a:srgbClr val="FFFFFF"/>
                </a:solidFill>
                <a:latin typeface="Nunito"/>
              </a:rPr>
              <a:t>13 hotspots were identified where ATMs at LUMS did not exist, through an extensive survey </a:t>
            </a:r>
          </a:p>
          <a:p>
            <a:pPr marL="840328" indent="-420164" lvl="1">
              <a:lnSpc>
                <a:spcPts val="5449"/>
              </a:lnSpc>
              <a:buFont typeface="Arial"/>
              <a:buChar char="•"/>
            </a:pPr>
            <a:r>
              <a:rPr lang="en-US" sz="3892">
                <a:solidFill>
                  <a:srgbClr val="FFFFFF"/>
                </a:solidFill>
                <a:latin typeface="Nunito"/>
              </a:rPr>
              <a:t>With google maps, dimensions of the selected area were determined. It measures 460m x 420m</a:t>
            </a:r>
          </a:p>
          <a:p>
            <a:pPr marL="840328" indent="-420164" lvl="1">
              <a:lnSpc>
                <a:spcPts val="5449"/>
              </a:lnSpc>
              <a:buFont typeface="Arial"/>
              <a:buChar char="•"/>
            </a:pPr>
            <a:r>
              <a:rPr lang="en-US" sz="3892">
                <a:solidFill>
                  <a:srgbClr val="FFFFFF"/>
                </a:solidFill>
                <a:latin typeface="Nunito"/>
              </a:rPr>
              <a:t>A simplified grid of 30 boxes was created, which measures 84m x 76m respectively</a:t>
            </a:r>
          </a:p>
          <a:p>
            <a:pPr>
              <a:lnSpc>
                <a:spcPts val="5449"/>
              </a:lnSpc>
              <a:spcBef>
                <a:spcPct val="0"/>
              </a:spcBef>
            </a:pPr>
            <a:r>
              <a:rPr lang="en-US" sz="3892">
                <a:solidFill>
                  <a:srgbClr val="FFFFFF"/>
                </a:solidFill>
                <a:latin typeface="Nunito"/>
              </a:rPr>
              <a:t> </a:t>
            </a:r>
          </a:p>
        </p:txBody>
      </p:sp>
      <p:sp>
        <p:nvSpPr>
          <p:cNvPr name="TextBox 5" id="5"/>
          <p:cNvSpPr txBox="true"/>
          <p:nvPr/>
        </p:nvSpPr>
        <p:spPr>
          <a:xfrm rot="0">
            <a:off x="1028700" y="1990351"/>
            <a:ext cx="8167018" cy="1761857"/>
          </a:xfrm>
          <a:prstGeom prst="rect">
            <a:avLst/>
          </a:prstGeom>
        </p:spPr>
        <p:txBody>
          <a:bodyPr anchor="t" rtlCol="false" tIns="0" lIns="0" bIns="0" rIns="0">
            <a:spAutoFit/>
          </a:bodyPr>
          <a:lstStyle/>
          <a:p>
            <a:pPr>
              <a:lnSpc>
                <a:spcPts val="6890"/>
              </a:lnSpc>
              <a:spcBef>
                <a:spcPct val="0"/>
              </a:spcBef>
            </a:pPr>
            <a:r>
              <a:rPr lang="en-US" sz="5300">
                <a:solidFill>
                  <a:srgbClr val="FFFFFF"/>
                </a:solidFill>
                <a:latin typeface="Nunito"/>
              </a:rPr>
              <a:t>1) </a:t>
            </a:r>
            <a:r>
              <a:rPr lang="en-US" sz="5300">
                <a:solidFill>
                  <a:srgbClr val="FFFFFF"/>
                </a:solidFill>
                <a:latin typeface="Nunito"/>
              </a:rPr>
              <a:t>MCLP model</a:t>
            </a:r>
          </a:p>
          <a:p>
            <a:pPr>
              <a:lnSpc>
                <a:spcPts val="7149"/>
              </a:lnSpc>
              <a:spcBef>
                <a:spcPct val="0"/>
              </a:spcBef>
            </a:pPr>
            <a:r>
              <a:rPr lang="en-US" sz="5499">
                <a:solidFill>
                  <a:srgbClr val="FFFFFF"/>
                </a:solidFill>
                <a:latin typeface="Nunito"/>
              </a:rPr>
              <a:t>2) Survey </a:t>
            </a:r>
          </a:p>
        </p:txBody>
      </p:sp>
      <p:grpSp>
        <p:nvGrpSpPr>
          <p:cNvPr name="Group 6" id="6"/>
          <p:cNvGrpSpPr/>
          <p:nvPr/>
        </p:nvGrpSpPr>
        <p:grpSpPr>
          <a:xfrm rot="0">
            <a:off x="895479" y="541075"/>
            <a:ext cx="2226564" cy="938624"/>
            <a:chOff x="0" y="0"/>
            <a:chExt cx="753183" cy="317510"/>
          </a:xfrm>
        </p:grpSpPr>
        <p:sp>
          <p:nvSpPr>
            <p:cNvPr name="Freeform 7" id="7"/>
            <p:cNvSpPr/>
            <p:nvPr/>
          </p:nvSpPr>
          <p:spPr>
            <a:xfrm>
              <a:off x="0" y="0"/>
              <a:ext cx="753183" cy="317510"/>
            </a:xfrm>
            <a:custGeom>
              <a:avLst/>
              <a:gdLst/>
              <a:ahLst/>
              <a:cxnLst/>
              <a:rect r="r" b="b" t="t" l="l"/>
              <a:pathLst>
                <a:path h="317510" w="753183">
                  <a:moveTo>
                    <a:pt x="0" y="0"/>
                  </a:moveTo>
                  <a:lnTo>
                    <a:pt x="753183" y="0"/>
                  </a:lnTo>
                  <a:lnTo>
                    <a:pt x="753183" y="317510"/>
                  </a:lnTo>
                  <a:lnTo>
                    <a:pt x="0" y="317510"/>
                  </a:lnTo>
                  <a:close/>
                </a:path>
              </a:pathLst>
            </a:custGeom>
            <a:solidFill>
              <a:srgbClr val="5CE1E6"/>
            </a:solidFill>
          </p:spPr>
        </p:sp>
      </p:grpSp>
      <p:sp>
        <p:nvSpPr>
          <p:cNvPr name="TextBox 8" id="8"/>
          <p:cNvSpPr txBox="true"/>
          <p:nvPr/>
        </p:nvSpPr>
        <p:spPr>
          <a:xfrm rot="0">
            <a:off x="1011808" y="474400"/>
            <a:ext cx="1958429" cy="1133277"/>
          </a:xfrm>
          <a:prstGeom prst="rect">
            <a:avLst/>
          </a:prstGeom>
        </p:spPr>
        <p:txBody>
          <a:bodyPr anchor="t" rtlCol="false" tIns="0" lIns="0" bIns="0" rIns="0">
            <a:spAutoFit/>
          </a:bodyPr>
          <a:lstStyle/>
          <a:p>
            <a:pPr algn="ctr">
              <a:lnSpc>
                <a:spcPts val="9099"/>
              </a:lnSpc>
              <a:spcBef>
                <a:spcPct val="0"/>
              </a:spcBef>
            </a:pPr>
            <a:r>
              <a:rPr lang="en-US" sz="6999">
                <a:solidFill>
                  <a:srgbClr val="191919"/>
                </a:solidFill>
                <a:latin typeface="Nunito Bold"/>
              </a:rPr>
              <a:t>Data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AutoShape 2" id="2"/>
          <p:cNvSpPr/>
          <p:nvPr/>
        </p:nvSpPr>
        <p:spPr>
          <a:xfrm rot="0">
            <a:off x="6236050" y="5943312"/>
            <a:ext cx="9525" cy="3402128"/>
          </a:xfrm>
          <a:prstGeom prst="rect">
            <a:avLst/>
          </a:prstGeom>
          <a:solidFill>
            <a:srgbClr val="FFFFFF"/>
          </a:solidFill>
        </p:spPr>
      </p:sp>
      <p:sp>
        <p:nvSpPr>
          <p:cNvPr name="AutoShape 3" id="3"/>
          <p:cNvSpPr/>
          <p:nvPr/>
        </p:nvSpPr>
        <p:spPr>
          <a:xfrm rot="0">
            <a:off x="12042425" y="5943312"/>
            <a:ext cx="9525" cy="3402128"/>
          </a:xfrm>
          <a:prstGeom prst="rect">
            <a:avLst/>
          </a:prstGeom>
          <a:solidFill>
            <a:srgbClr val="FFFFFF"/>
          </a:solidFill>
        </p:spPr>
      </p:sp>
      <p:pic>
        <p:nvPicPr>
          <p:cNvPr name="Picture 4" id="4"/>
          <p:cNvPicPr>
            <a:picLocks noChangeAspect="true"/>
          </p:cNvPicPr>
          <p:nvPr/>
        </p:nvPicPr>
        <p:blipFill>
          <a:blip r:embed="rId2"/>
          <a:srcRect l="1131" t="3205" r="13761" b="7726"/>
          <a:stretch>
            <a:fillRect/>
          </a:stretch>
        </p:blipFill>
        <p:spPr>
          <a:xfrm flipH="false" flipV="false" rot="0">
            <a:off x="11208366" y="5216223"/>
            <a:ext cx="6050934" cy="5070777"/>
          </a:xfrm>
          <a:prstGeom prst="rect">
            <a:avLst/>
          </a:prstGeom>
        </p:spPr>
      </p:pic>
      <p:pic>
        <p:nvPicPr>
          <p:cNvPr name="Picture 5" id="5"/>
          <p:cNvPicPr>
            <a:picLocks noChangeAspect="true"/>
          </p:cNvPicPr>
          <p:nvPr/>
        </p:nvPicPr>
        <p:blipFill>
          <a:blip r:embed="rId3"/>
          <a:srcRect l="0" t="0" r="3636" b="990"/>
          <a:stretch>
            <a:fillRect/>
          </a:stretch>
        </p:blipFill>
        <p:spPr>
          <a:xfrm flipH="false" flipV="false" rot="0">
            <a:off x="1545357" y="1996991"/>
            <a:ext cx="4378690" cy="2083399"/>
          </a:xfrm>
          <a:prstGeom prst="rect">
            <a:avLst/>
          </a:prstGeom>
        </p:spPr>
      </p:pic>
      <p:pic>
        <p:nvPicPr>
          <p:cNvPr name="Picture 6" id="6"/>
          <p:cNvPicPr>
            <a:picLocks noChangeAspect="true"/>
          </p:cNvPicPr>
          <p:nvPr/>
        </p:nvPicPr>
        <p:blipFill>
          <a:blip r:embed="rId4"/>
          <a:srcRect l="1514" t="878" r="0" b="878"/>
          <a:stretch>
            <a:fillRect/>
          </a:stretch>
        </p:blipFill>
        <p:spPr>
          <a:xfrm flipH="false" flipV="false" rot="0">
            <a:off x="1064582" y="4213346"/>
            <a:ext cx="5505473" cy="5939743"/>
          </a:xfrm>
          <a:prstGeom prst="rect">
            <a:avLst/>
          </a:prstGeom>
        </p:spPr>
      </p:pic>
      <p:grpSp>
        <p:nvGrpSpPr>
          <p:cNvPr name="Group 7" id="7"/>
          <p:cNvGrpSpPr/>
          <p:nvPr/>
        </p:nvGrpSpPr>
        <p:grpSpPr>
          <a:xfrm rot="0">
            <a:off x="1028700" y="631848"/>
            <a:ext cx="6051676" cy="1057635"/>
            <a:chOff x="0" y="0"/>
            <a:chExt cx="2047110" cy="357768"/>
          </a:xfrm>
        </p:grpSpPr>
        <p:sp>
          <p:nvSpPr>
            <p:cNvPr name="Freeform 8" id="8"/>
            <p:cNvSpPr/>
            <p:nvPr/>
          </p:nvSpPr>
          <p:spPr>
            <a:xfrm>
              <a:off x="0" y="0"/>
              <a:ext cx="2047110" cy="357768"/>
            </a:xfrm>
            <a:custGeom>
              <a:avLst/>
              <a:gdLst/>
              <a:ahLst/>
              <a:cxnLst/>
              <a:rect r="r" b="b" t="t" l="l"/>
              <a:pathLst>
                <a:path h="357768" w="2047110">
                  <a:moveTo>
                    <a:pt x="0" y="0"/>
                  </a:moveTo>
                  <a:lnTo>
                    <a:pt x="2047110" y="0"/>
                  </a:lnTo>
                  <a:lnTo>
                    <a:pt x="2047110" y="357768"/>
                  </a:lnTo>
                  <a:lnTo>
                    <a:pt x="0" y="357768"/>
                  </a:lnTo>
                  <a:close/>
                </a:path>
              </a:pathLst>
            </a:custGeom>
            <a:solidFill>
              <a:srgbClr val="5CE1E6"/>
            </a:solidFill>
          </p:spPr>
        </p:sp>
      </p:grpSp>
      <p:pic>
        <p:nvPicPr>
          <p:cNvPr name="Picture 9" id="9"/>
          <p:cNvPicPr>
            <a:picLocks noChangeAspect="true"/>
          </p:cNvPicPr>
          <p:nvPr/>
        </p:nvPicPr>
        <p:blipFill>
          <a:blip r:embed="rId5"/>
          <a:srcRect l="0" t="0" r="67614" b="3468"/>
          <a:stretch>
            <a:fillRect/>
          </a:stretch>
        </p:blipFill>
        <p:spPr>
          <a:xfrm flipH="false" flipV="false" rot="0">
            <a:off x="10932584" y="530293"/>
            <a:ext cx="6603442" cy="4613207"/>
          </a:xfrm>
          <a:prstGeom prst="rect">
            <a:avLst/>
          </a:prstGeom>
        </p:spPr>
      </p:pic>
      <p:sp>
        <p:nvSpPr>
          <p:cNvPr name="TextBox 10" id="10"/>
          <p:cNvSpPr txBox="true"/>
          <p:nvPr/>
        </p:nvSpPr>
        <p:spPr>
          <a:xfrm rot="0">
            <a:off x="1028700" y="765198"/>
            <a:ext cx="6020266" cy="924285"/>
          </a:xfrm>
          <a:prstGeom prst="rect">
            <a:avLst/>
          </a:prstGeom>
        </p:spPr>
        <p:txBody>
          <a:bodyPr anchor="t" rtlCol="false" tIns="0" lIns="0" bIns="0" rIns="0">
            <a:spAutoFit/>
          </a:bodyPr>
          <a:lstStyle/>
          <a:p>
            <a:pPr>
              <a:lnSpc>
                <a:spcPts val="6939"/>
              </a:lnSpc>
            </a:pPr>
            <a:r>
              <a:rPr lang="en-US" sz="6939">
                <a:solidFill>
                  <a:srgbClr val="191919"/>
                </a:solidFill>
                <a:latin typeface="Nunito Bold"/>
              </a:rPr>
              <a:t> Data Analysis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AutoShape 2" id="2"/>
          <p:cNvSpPr/>
          <p:nvPr/>
        </p:nvSpPr>
        <p:spPr>
          <a:xfrm rot="0">
            <a:off x="-157658" y="151413"/>
            <a:ext cx="13487400" cy="10605291"/>
          </a:xfrm>
          <a:prstGeom prst="rect">
            <a:avLst/>
          </a:prstGeom>
          <a:solidFill>
            <a:srgbClr val="292929"/>
          </a:solidFill>
        </p:spPr>
      </p:sp>
      <p:grpSp>
        <p:nvGrpSpPr>
          <p:cNvPr name="Group 3" id="3"/>
          <p:cNvGrpSpPr/>
          <p:nvPr/>
        </p:nvGrpSpPr>
        <p:grpSpPr>
          <a:xfrm rot="0">
            <a:off x="1028700" y="1028700"/>
            <a:ext cx="5129889" cy="938624"/>
            <a:chOff x="0" y="0"/>
            <a:chExt cx="1735296" cy="317510"/>
          </a:xfrm>
        </p:grpSpPr>
        <p:sp>
          <p:nvSpPr>
            <p:cNvPr name="Freeform 4" id="4"/>
            <p:cNvSpPr/>
            <p:nvPr/>
          </p:nvSpPr>
          <p:spPr>
            <a:xfrm>
              <a:off x="0" y="0"/>
              <a:ext cx="1735296" cy="317510"/>
            </a:xfrm>
            <a:custGeom>
              <a:avLst/>
              <a:gdLst/>
              <a:ahLst/>
              <a:cxnLst/>
              <a:rect r="r" b="b" t="t" l="l"/>
              <a:pathLst>
                <a:path h="317510" w="1735296">
                  <a:moveTo>
                    <a:pt x="0" y="0"/>
                  </a:moveTo>
                  <a:lnTo>
                    <a:pt x="1735296" y="0"/>
                  </a:lnTo>
                  <a:lnTo>
                    <a:pt x="1735296" y="317510"/>
                  </a:lnTo>
                  <a:lnTo>
                    <a:pt x="0" y="317510"/>
                  </a:lnTo>
                  <a:close/>
                </a:path>
              </a:pathLst>
            </a:custGeom>
            <a:solidFill>
              <a:srgbClr val="5CE1E6"/>
            </a:solidFill>
          </p:spPr>
        </p:sp>
      </p:grpSp>
      <p:sp>
        <p:nvSpPr>
          <p:cNvPr name="TextBox 5" id="5"/>
          <p:cNvSpPr txBox="true"/>
          <p:nvPr/>
        </p:nvSpPr>
        <p:spPr>
          <a:xfrm rot="0">
            <a:off x="510264" y="895350"/>
            <a:ext cx="12170605" cy="10644233"/>
          </a:xfrm>
          <a:prstGeom prst="rect">
            <a:avLst/>
          </a:prstGeom>
        </p:spPr>
        <p:txBody>
          <a:bodyPr anchor="t" rtlCol="false" tIns="0" lIns="0" bIns="0" rIns="0">
            <a:spAutoFit/>
          </a:bodyPr>
          <a:lstStyle/>
          <a:p>
            <a:pPr>
              <a:lnSpc>
                <a:spcPts val="9799"/>
              </a:lnSpc>
              <a:spcBef>
                <a:spcPct val="0"/>
              </a:spcBef>
            </a:pPr>
          </a:p>
          <a:p>
            <a:pPr>
              <a:lnSpc>
                <a:spcPts val="5288"/>
              </a:lnSpc>
              <a:spcBef>
                <a:spcPct val="0"/>
              </a:spcBef>
            </a:pPr>
          </a:p>
          <a:p>
            <a:pPr marL="815600" indent="-407800" lvl="1">
              <a:lnSpc>
                <a:spcPts val="5288"/>
              </a:lnSpc>
              <a:buFont typeface="Arial"/>
              <a:buChar char="•"/>
            </a:pPr>
            <a:r>
              <a:rPr lang="en-US" sz="3777">
                <a:solidFill>
                  <a:srgbClr val="FFFFFF"/>
                </a:solidFill>
                <a:latin typeface="Nunito"/>
              </a:rPr>
              <a:t>LUMS and the Vendor equally bear the initial and monthly costs</a:t>
            </a:r>
          </a:p>
          <a:p>
            <a:pPr marL="815600" indent="-407800" lvl="1">
              <a:lnSpc>
                <a:spcPts val="5288"/>
              </a:lnSpc>
              <a:buFont typeface="Arial"/>
              <a:buChar char="•"/>
            </a:pPr>
            <a:r>
              <a:rPr lang="en-US" sz="3777">
                <a:solidFill>
                  <a:srgbClr val="FFFFFF"/>
                </a:solidFill>
                <a:latin typeface="Nunito"/>
              </a:rPr>
              <a:t>The additional cost of setting up an ATM outside building(s) is negligible</a:t>
            </a:r>
          </a:p>
          <a:p>
            <a:pPr marL="815600" indent="-407800" lvl="1">
              <a:lnSpc>
                <a:spcPts val="5288"/>
              </a:lnSpc>
              <a:buFont typeface="Arial"/>
              <a:buChar char="•"/>
            </a:pPr>
            <a:r>
              <a:rPr lang="en-US" sz="3777">
                <a:solidFill>
                  <a:srgbClr val="FFFFFF"/>
                </a:solidFill>
                <a:latin typeface="Nunito"/>
              </a:rPr>
              <a:t>The radius for a single atm to be 150m, considering the preferred walking time of 2 mins</a:t>
            </a:r>
          </a:p>
          <a:p>
            <a:pPr marL="815600" indent="-407800" lvl="1">
              <a:lnSpc>
                <a:spcPts val="5288"/>
              </a:lnSpc>
              <a:buFont typeface="Arial"/>
              <a:buChar char="•"/>
            </a:pPr>
            <a:r>
              <a:rPr lang="en-US" sz="3777">
                <a:solidFill>
                  <a:srgbClr val="FFFFFF"/>
                </a:solidFill>
                <a:latin typeface="Nunito"/>
              </a:rPr>
              <a:t>Hotspot spread in different nodes (grid boxes) - Demand is the same for such nodes (grid boxes)</a:t>
            </a:r>
          </a:p>
          <a:p>
            <a:pPr marL="815600" indent="-407800" lvl="1">
              <a:lnSpc>
                <a:spcPts val="5288"/>
              </a:lnSpc>
              <a:buFont typeface="Arial"/>
              <a:buChar char="•"/>
            </a:pPr>
            <a:r>
              <a:rPr lang="en-US" sz="3777">
                <a:solidFill>
                  <a:srgbClr val="FFFFFF"/>
                </a:solidFill>
                <a:latin typeface="Nunito"/>
              </a:rPr>
              <a:t>Demad is aggregated at the centre of each node (grid box)</a:t>
            </a:r>
          </a:p>
          <a:p>
            <a:pPr algn="ctr">
              <a:lnSpc>
                <a:spcPts val="5288"/>
              </a:lnSpc>
              <a:spcBef>
                <a:spcPct val="0"/>
              </a:spcBef>
            </a:pPr>
          </a:p>
          <a:p>
            <a:pPr algn="ctr">
              <a:lnSpc>
                <a:spcPts val="5288"/>
              </a:lnSpc>
              <a:spcBef>
                <a:spcPct val="0"/>
              </a:spcBef>
            </a:pPr>
            <a:r>
              <a:rPr lang="en-US" sz="3777">
                <a:solidFill>
                  <a:srgbClr val="FFFFFF"/>
                </a:solidFill>
                <a:latin typeface="Nunito"/>
              </a:rPr>
              <a:t> </a:t>
            </a:r>
          </a:p>
          <a:p>
            <a:pPr algn="ctr">
              <a:lnSpc>
                <a:spcPts val="5288"/>
              </a:lnSpc>
              <a:spcBef>
                <a:spcPct val="0"/>
              </a:spcBef>
            </a:pPr>
          </a:p>
        </p:txBody>
      </p:sp>
      <p:pic>
        <p:nvPicPr>
          <p:cNvPr name="Picture 6" id="6"/>
          <p:cNvPicPr>
            <a:picLocks noChangeAspect="true"/>
          </p:cNvPicPr>
          <p:nvPr/>
        </p:nvPicPr>
        <p:blipFill>
          <a:blip r:embed="rId2"/>
          <a:srcRect l="3389" t="511" r="5896" b="0"/>
          <a:stretch>
            <a:fillRect/>
          </a:stretch>
        </p:blipFill>
        <p:spPr>
          <a:xfrm flipH="false" flipV="false" rot="0">
            <a:off x="13329742" y="2903481"/>
            <a:ext cx="4958258" cy="4480037"/>
          </a:xfrm>
          <a:prstGeom prst="rect">
            <a:avLst/>
          </a:prstGeom>
        </p:spPr>
      </p:pic>
      <p:sp>
        <p:nvSpPr>
          <p:cNvPr name="TextBox 7" id="7"/>
          <p:cNvSpPr txBox="true"/>
          <p:nvPr/>
        </p:nvSpPr>
        <p:spPr>
          <a:xfrm rot="0">
            <a:off x="1141925" y="962025"/>
            <a:ext cx="4903440" cy="1041926"/>
          </a:xfrm>
          <a:prstGeom prst="rect">
            <a:avLst/>
          </a:prstGeom>
        </p:spPr>
        <p:txBody>
          <a:bodyPr anchor="t" rtlCol="false" tIns="0" lIns="0" bIns="0" rIns="0">
            <a:spAutoFit/>
          </a:bodyPr>
          <a:lstStyle/>
          <a:p>
            <a:pPr algn="ctr">
              <a:lnSpc>
                <a:spcPts val="8319"/>
              </a:lnSpc>
              <a:spcBef>
                <a:spcPct val="0"/>
              </a:spcBef>
            </a:pPr>
            <a:r>
              <a:rPr lang="en-US" sz="6399">
                <a:solidFill>
                  <a:srgbClr val="191919"/>
                </a:solidFill>
                <a:latin typeface="Nunito Bold"/>
              </a:rPr>
              <a:t>Assumptions</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91919"/>
        </a:solidFill>
      </p:bgPr>
    </p:bg>
    <p:spTree>
      <p:nvGrpSpPr>
        <p:cNvPr id="1" name=""/>
        <p:cNvGrpSpPr/>
        <p:nvPr/>
      </p:nvGrpSpPr>
      <p:grpSpPr>
        <a:xfrm>
          <a:off x="0" y="0"/>
          <a:ext cx="0" cy="0"/>
          <a:chOff x="0" y="0"/>
          <a:chExt cx="0" cy="0"/>
        </a:xfrm>
      </p:grpSpPr>
      <p:sp>
        <p:nvSpPr>
          <p:cNvPr name="AutoShape 2" id="2"/>
          <p:cNvSpPr/>
          <p:nvPr/>
        </p:nvSpPr>
        <p:spPr>
          <a:xfrm rot="-2700000">
            <a:off x="-440951" y="5507307"/>
            <a:ext cx="10058400" cy="9525"/>
          </a:xfrm>
          <a:prstGeom prst="rect">
            <a:avLst/>
          </a:prstGeom>
          <a:solidFill>
            <a:srgbClr val="FFFFFF"/>
          </a:solidFill>
        </p:spPr>
      </p:sp>
      <p:sp>
        <p:nvSpPr>
          <p:cNvPr name="AutoShape 3" id="3"/>
          <p:cNvSpPr/>
          <p:nvPr/>
        </p:nvSpPr>
        <p:spPr>
          <a:xfrm rot="-2700000">
            <a:off x="555251" y="2732157"/>
            <a:ext cx="10058400" cy="9525"/>
          </a:xfrm>
          <a:prstGeom prst="rect">
            <a:avLst/>
          </a:prstGeom>
          <a:solidFill>
            <a:srgbClr val="FFFFFF"/>
          </a:solidFill>
        </p:spPr>
      </p:sp>
      <p:sp>
        <p:nvSpPr>
          <p:cNvPr name="AutoShape 4" id="4"/>
          <p:cNvSpPr/>
          <p:nvPr/>
        </p:nvSpPr>
        <p:spPr>
          <a:xfrm rot="-2700000">
            <a:off x="5697365" y="351085"/>
            <a:ext cx="3368557" cy="117795"/>
          </a:xfrm>
          <a:prstGeom prst="rect">
            <a:avLst/>
          </a:prstGeom>
          <a:solidFill>
            <a:srgbClr val="292929"/>
          </a:solidFill>
        </p:spPr>
      </p:sp>
      <p:grpSp>
        <p:nvGrpSpPr>
          <p:cNvPr name="Group 5" id="5"/>
          <p:cNvGrpSpPr/>
          <p:nvPr/>
        </p:nvGrpSpPr>
        <p:grpSpPr>
          <a:xfrm rot="0">
            <a:off x="6958236" y="6296468"/>
            <a:ext cx="4607898" cy="938624"/>
            <a:chOff x="0" y="0"/>
            <a:chExt cx="1558721" cy="317510"/>
          </a:xfrm>
        </p:grpSpPr>
        <p:sp>
          <p:nvSpPr>
            <p:cNvPr name="Freeform 6" id="6"/>
            <p:cNvSpPr/>
            <p:nvPr/>
          </p:nvSpPr>
          <p:spPr>
            <a:xfrm>
              <a:off x="0" y="0"/>
              <a:ext cx="1558721" cy="317510"/>
            </a:xfrm>
            <a:custGeom>
              <a:avLst/>
              <a:gdLst/>
              <a:ahLst/>
              <a:cxnLst/>
              <a:rect r="r" b="b" t="t" l="l"/>
              <a:pathLst>
                <a:path h="317510" w="1558721">
                  <a:moveTo>
                    <a:pt x="0" y="0"/>
                  </a:moveTo>
                  <a:lnTo>
                    <a:pt x="1558721" y="0"/>
                  </a:lnTo>
                  <a:lnTo>
                    <a:pt x="1558721" y="317510"/>
                  </a:lnTo>
                  <a:lnTo>
                    <a:pt x="0" y="317510"/>
                  </a:lnTo>
                  <a:close/>
                </a:path>
              </a:pathLst>
            </a:custGeom>
            <a:solidFill>
              <a:srgbClr val="5CE1E6"/>
            </a:solidFill>
          </p:spPr>
        </p:sp>
      </p:grpSp>
      <p:grpSp>
        <p:nvGrpSpPr>
          <p:cNvPr name="Group 7" id="7"/>
          <p:cNvGrpSpPr/>
          <p:nvPr/>
        </p:nvGrpSpPr>
        <p:grpSpPr>
          <a:xfrm rot="0">
            <a:off x="11218900" y="703970"/>
            <a:ext cx="5657850" cy="938624"/>
            <a:chOff x="0" y="0"/>
            <a:chExt cx="1913890" cy="317510"/>
          </a:xfrm>
        </p:grpSpPr>
        <p:sp>
          <p:nvSpPr>
            <p:cNvPr name="Freeform 8" id="8"/>
            <p:cNvSpPr/>
            <p:nvPr/>
          </p:nvSpPr>
          <p:spPr>
            <a:xfrm>
              <a:off x="0" y="0"/>
              <a:ext cx="1913890" cy="317510"/>
            </a:xfrm>
            <a:custGeom>
              <a:avLst/>
              <a:gdLst/>
              <a:ahLst/>
              <a:cxnLst/>
              <a:rect r="r" b="b" t="t" l="l"/>
              <a:pathLst>
                <a:path h="317510" w="1913890">
                  <a:moveTo>
                    <a:pt x="0" y="0"/>
                  </a:moveTo>
                  <a:lnTo>
                    <a:pt x="1913890" y="0"/>
                  </a:lnTo>
                  <a:lnTo>
                    <a:pt x="1913890" y="317510"/>
                  </a:lnTo>
                  <a:lnTo>
                    <a:pt x="0" y="317510"/>
                  </a:lnTo>
                  <a:close/>
                </a:path>
              </a:pathLst>
            </a:custGeom>
            <a:solidFill>
              <a:srgbClr val="5CE1E6"/>
            </a:solidFill>
          </p:spPr>
        </p:sp>
      </p:grpSp>
      <p:sp>
        <p:nvSpPr>
          <p:cNvPr name="TextBox 9" id="9"/>
          <p:cNvSpPr txBox="true"/>
          <p:nvPr/>
        </p:nvSpPr>
        <p:spPr>
          <a:xfrm rot="0">
            <a:off x="10410820" y="-302424"/>
            <a:ext cx="7274010" cy="1208104"/>
          </a:xfrm>
          <a:prstGeom prst="rect">
            <a:avLst/>
          </a:prstGeom>
        </p:spPr>
        <p:txBody>
          <a:bodyPr anchor="t" rtlCol="false" tIns="0" lIns="0" bIns="0" rIns="0">
            <a:spAutoFit/>
          </a:bodyPr>
          <a:lstStyle/>
          <a:p>
            <a:pPr>
              <a:lnSpc>
                <a:spcPts val="8989"/>
              </a:lnSpc>
            </a:pPr>
          </a:p>
        </p:txBody>
      </p:sp>
      <p:sp>
        <p:nvSpPr>
          <p:cNvPr name="TextBox 10" id="10"/>
          <p:cNvSpPr txBox="true"/>
          <p:nvPr/>
        </p:nvSpPr>
        <p:spPr>
          <a:xfrm rot="0">
            <a:off x="10410820" y="1889327"/>
            <a:ext cx="7274010" cy="4527756"/>
          </a:xfrm>
          <a:prstGeom prst="rect">
            <a:avLst/>
          </a:prstGeom>
        </p:spPr>
        <p:txBody>
          <a:bodyPr anchor="t" rtlCol="false" tIns="0" lIns="0" bIns="0" rIns="0">
            <a:spAutoFit/>
          </a:bodyPr>
          <a:lstStyle/>
          <a:p>
            <a:pPr>
              <a:lnSpc>
                <a:spcPts val="5112"/>
              </a:lnSpc>
            </a:pPr>
            <a:r>
              <a:rPr lang="en-US" sz="3652">
                <a:solidFill>
                  <a:srgbClr val="FFFFFF"/>
                </a:solidFill>
                <a:latin typeface="Nunito Bold"/>
              </a:rPr>
              <a:t>Yi = 1 if grid box has an existing             ATM </a:t>
            </a:r>
          </a:p>
          <a:p>
            <a:pPr>
              <a:lnSpc>
                <a:spcPts val="5112"/>
              </a:lnSpc>
            </a:pPr>
            <a:r>
              <a:rPr lang="en-US" sz="3652">
                <a:solidFill>
                  <a:srgbClr val="FFFFFF"/>
                </a:solidFill>
                <a:latin typeface="Nunito Bold"/>
              </a:rPr>
              <a:t>Yi = 0 if not</a:t>
            </a:r>
          </a:p>
          <a:p>
            <a:pPr>
              <a:lnSpc>
                <a:spcPts val="5112"/>
              </a:lnSpc>
            </a:pPr>
          </a:p>
          <a:p>
            <a:pPr>
              <a:lnSpc>
                <a:spcPts val="5112"/>
              </a:lnSpc>
            </a:pPr>
            <a:r>
              <a:rPr lang="en-US" sz="3652">
                <a:solidFill>
                  <a:srgbClr val="FFFFFF"/>
                </a:solidFill>
                <a:latin typeface="Nunito Bold"/>
              </a:rPr>
              <a:t>Xi = 1 if grid box is covered</a:t>
            </a:r>
          </a:p>
          <a:p>
            <a:pPr>
              <a:lnSpc>
                <a:spcPts val="5112"/>
              </a:lnSpc>
            </a:pPr>
            <a:r>
              <a:rPr lang="en-US" sz="3652">
                <a:solidFill>
                  <a:srgbClr val="FFFFFF"/>
                </a:solidFill>
                <a:latin typeface="Nunito Bold"/>
              </a:rPr>
              <a:t>Xi = 0 if not</a:t>
            </a:r>
          </a:p>
          <a:p>
            <a:pPr>
              <a:lnSpc>
                <a:spcPts val="5112"/>
              </a:lnSpc>
            </a:pPr>
          </a:p>
        </p:txBody>
      </p:sp>
      <p:sp>
        <p:nvSpPr>
          <p:cNvPr name="TextBox 11" id="11"/>
          <p:cNvSpPr txBox="true"/>
          <p:nvPr/>
        </p:nvSpPr>
        <p:spPr>
          <a:xfrm rot="0">
            <a:off x="6958236" y="6485745"/>
            <a:ext cx="4489713" cy="645795"/>
          </a:xfrm>
          <a:prstGeom prst="rect">
            <a:avLst/>
          </a:prstGeom>
        </p:spPr>
        <p:txBody>
          <a:bodyPr anchor="t" rtlCol="false" tIns="0" lIns="0" bIns="0" rIns="0">
            <a:spAutoFit/>
          </a:bodyPr>
          <a:lstStyle/>
          <a:p>
            <a:pPr algn="ctr">
              <a:lnSpc>
                <a:spcPts val="4800"/>
              </a:lnSpc>
              <a:spcBef>
                <a:spcPct val="0"/>
              </a:spcBef>
            </a:pPr>
            <a:r>
              <a:rPr lang="en-US" sz="4800">
                <a:solidFill>
                  <a:srgbClr val="191919"/>
                </a:solidFill>
                <a:latin typeface="Nunito Bold"/>
              </a:rPr>
              <a:t>Constraints</a:t>
            </a:r>
          </a:p>
        </p:txBody>
      </p:sp>
      <p:grpSp>
        <p:nvGrpSpPr>
          <p:cNvPr name="Group 12" id="12"/>
          <p:cNvGrpSpPr/>
          <p:nvPr/>
        </p:nvGrpSpPr>
        <p:grpSpPr>
          <a:xfrm rot="0">
            <a:off x="518528" y="1470202"/>
            <a:ext cx="7429633" cy="990650"/>
            <a:chOff x="0" y="0"/>
            <a:chExt cx="2513234" cy="335109"/>
          </a:xfrm>
        </p:grpSpPr>
        <p:sp>
          <p:nvSpPr>
            <p:cNvPr name="Freeform 13" id="13"/>
            <p:cNvSpPr/>
            <p:nvPr/>
          </p:nvSpPr>
          <p:spPr>
            <a:xfrm>
              <a:off x="0" y="0"/>
              <a:ext cx="2513234" cy="335109"/>
            </a:xfrm>
            <a:custGeom>
              <a:avLst/>
              <a:gdLst/>
              <a:ahLst/>
              <a:cxnLst/>
              <a:rect r="r" b="b" t="t" l="l"/>
              <a:pathLst>
                <a:path h="335109" w="2513234">
                  <a:moveTo>
                    <a:pt x="0" y="0"/>
                  </a:moveTo>
                  <a:lnTo>
                    <a:pt x="2513234" y="0"/>
                  </a:lnTo>
                  <a:lnTo>
                    <a:pt x="2513234" y="335109"/>
                  </a:lnTo>
                  <a:lnTo>
                    <a:pt x="0" y="335109"/>
                  </a:lnTo>
                  <a:close/>
                </a:path>
              </a:pathLst>
            </a:custGeom>
            <a:solidFill>
              <a:srgbClr val="5CE1E6"/>
            </a:solidFill>
          </p:spPr>
        </p:sp>
      </p:grpSp>
      <p:sp>
        <p:nvSpPr>
          <p:cNvPr name="TextBox 14" id="14"/>
          <p:cNvSpPr txBox="true"/>
          <p:nvPr/>
        </p:nvSpPr>
        <p:spPr>
          <a:xfrm rot="0">
            <a:off x="518528" y="2271972"/>
            <a:ext cx="8095727" cy="3460944"/>
          </a:xfrm>
          <a:prstGeom prst="rect">
            <a:avLst/>
          </a:prstGeom>
        </p:spPr>
        <p:txBody>
          <a:bodyPr anchor="t" rtlCol="false" tIns="0" lIns="0" bIns="0" rIns="0">
            <a:spAutoFit/>
          </a:bodyPr>
          <a:lstStyle/>
          <a:p>
            <a:pPr>
              <a:lnSpc>
                <a:spcPts val="6000"/>
              </a:lnSpc>
              <a:spcBef>
                <a:spcPct val="0"/>
              </a:spcBef>
            </a:pPr>
          </a:p>
          <a:p>
            <a:pPr>
              <a:lnSpc>
                <a:spcPts val="4226"/>
              </a:lnSpc>
              <a:spcBef>
                <a:spcPct val="0"/>
              </a:spcBef>
            </a:pPr>
            <a:r>
              <a:rPr lang="en-US" sz="4226">
                <a:solidFill>
                  <a:srgbClr val="FFFFFF"/>
                </a:solidFill>
                <a:latin typeface="Nunito Bold"/>
              </a:rPr>
              <a:t>MAX  64.25Y1 + 0Y2 + 30.25Y3 +30.25 Y4 +0Y5 . . . .  + 61.5Y30</a:t>
            </a:r>
          </a:p>
          <a:p>
            <a:pPr>
              <a:lnSpc>
                <a:spcPts val="4226"/>
              </a:lnSpc>
              <a:spcBef>
                <a:spcPct val="0"/>
              </a:spcBef>
            </a:pPr>
          </a:p>
          <a:p>
            <a:pPr>
              <a:lnSpc>
                <a:spcPts val="4226"/>
              </a:lnSpc>
              <a:spcBef>
                <a:spcPct val="0"/>
              </a:spcBef>
            </a:pPr>
            <a:r>
              <a:rPr lang="en-US" sz="4226">
                <a:solidFill>
                  <a:srgbClr val="FFFFFF"/>
                </a:solidFill>
                <a:latin typeface="Nunito Bold"/>
              </a:rPr>
              <a:t>Y= NODE IDENTIFIED ON THE MAP</a:t>
            </a:r>
          </a:p>
        </p:txBody>
      </p:sp>
      <p:sp>
        <p:nvSpPr>
          <p:cNvPr name="TextBox 15" id="15"/>
          <p:cNvSpPr txBox="true"/>
          <p:nvPr/>
        </p:nvSpPr>
        <p:spPr>
          <a:xfrm rot="0">
            <a:off x="6149032" y="7556362"/>
            <a:ext cx="12138968" cy="2468474"/>
          </a:xfrm>
          <a:prstGeom prst="rect">
            <a:avLst/>
          </a:prstGeom>
        </p:spPr>
        <p:txBody>
          <a:bodyPr anchor="t" rtlCol="false" tIns="0" lIns="0" bIns="0" rIns="0">
            <a:spAutoFit/>
          </a:bodyPr>
          <a:lstStyle/>
          <a:p>
            <a:pPr marL="828888" indent="-414444" lvl="1">
              <a:lnSpc>
                <a:spcPts val="3839"/>
              </a:lnSpc>
              <a:buFont typeface="Arial"/>
              <a:buChar char="•"/>
            </a:pPr>
            <a:r>
              <a:rPr lang="en-US" sz="3839">
                <a:solidFill>
                  <a:srgbClr val="FFFFFF"/>
                </a:solidFill>
                <a:latin typeface="Nunito Bold"/>
              </a:rPr>
              <a:t>CONSTRAINTS FOR THE LOCATION OF ATM- NOT EQUIVALENT TO ZERO WITH EXISTING ATM’S</a:t>
            </a:r>
          </a:p>
          <a:p>
            <a:pPr marL="828888" indent="-414444" lvl="1">
              <a:lnSpc>
                <a:spcPts val="3839"/>
              </a:lnSpc>
              <a:buFont typeface="Arial"/>
              <a:buChar char="•"/>
            </a:pPr>
            <a:r>
              <a:rPr lang="en-US" sz="3839">
                <a:solidFill>
                  <a:srgbClr val="FFFFFF"/>
                </a:solidFill>
                <a:latin typeface="Nunito Bold"/>
              </a:rPr>
              <a:t>MCLP CONSTRAINTS </a:t>
            </a:r>
          </a:p>
          <a:p>
            <a:pPr marL="828888" indent="-414444" lvl="1">
              <a:lnSpc>
                <a:spcPts val="3839"/>
              </a:lnSpc>
              <a:buFont typeface="Arial"/>
              <a:buChar char="•"/>
            </a:pPr>
            <a:r>
              <a:rPr lang="en-US" sz="3839">
                <a:solidFill>
                  <a:srgbClr val="FFFFFF"/>
                </a:solidFill>
                <a:latin typeface="Nunito Bold"/>
              </a:rPr>
              <a:t>THE TOTAL NO. OF ATMS IS 5</a:t>
            </a:r>
          </a:p>
        </p:txBody>
      </p:sp>
      <p:sp>
        <p:nvSpPr>
          <p:cNvPr name="TextBox 16" id="16"/>
          <p:cNvSpPr txBox="true"/>
          <p:nvPr/>
        </p:nvSpPr>
        <p:spPr>
          <a:xfrm rot="0">
            <a:off x="10602249" y="691176"/>
            <a:ext cx="7082582" cy="779026"/>
          </a:xfrm>
          <a:prstGeom prst="rect">
            <a:avLst/>
          </a:prstGeom>
        </p:spPr>
        <p:txBody>
          <a:bodyPr anchor="t" rtlCol="false" tIns="0" lIns="0" bIns="0" rIns="0">
            <a:spAutoFit/>
          </a:bodyPr>
          <a:lstStyle/>
          <a:p>
            <a:pPr algn="ctr">
              <a:lnSpc>
                <a:spcPts val="6240"/>
              </a:lnSpc>
              <a:spcBef>
                <a:spcPct val="0"/>
              </a:spcBef>
            </a:pPr>
            <a:r>
              <a:rPr lang="en-US" sz="4800">
                <a:solidFill>
                  <a:srgbClr val="191919"/>
                </a:solidFill>
                <a:latin typeface="Nunito Bold"/>
              </a:rPr>
              <a:t>Decision Variables </a:t>
            </a:r>
          </a:p>
        </p:txBody>
      </p:sp>
      <p:sp>
        <p:nvSpPr>
          <p:cNvPr name="TextBox 17" id="17"/>
          <p:cNvSpPr txBox="true"/>
          <p:nvPr/>
        </p:nvSpPr>
        <p:spPr>
          <a:xfrm rot="0">
            <a:off x="639927" y="1403527"/>
            <a:ext cx="7186836" cy="1057325"/>
          </a:xfrm>
          <a:prstGeom prst="rect">
            <a:avLst/>
          </a:prstGeom>
        </p:spPr>
        <p:txBody>
          <a:bodyPr anchor="t" rtlCol="false" tIns="0" lIns="0" bIns="0" rIns="0">
            <a:spAutoFit/>
          </a:bodyPr>
          <a:lstStyle/>
          <a:p>
            <a:pPr algn="ctr">
              <a:lnSpc>
                <a:spcPts val="8450"/>
              </a:lnSpc>
              <a:spcBef>
                <a:spcPct val="0"/>
              </a:spcBef>
            </a:pPr>
            <a:r>
              <a:rPr lang="en-US" sz="6500">
                <a:solidFill>
                  <a:srgbClr val="191919"/>
                </a:solidFill>
                <a:latin typeface="Nunito Bold"/>
              </a:rPr>
              <a:t>Objective Function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13617514" y="8591553"/>
            <a:ext cx="653412" cy="666747"/>
          </a:xfrm>
          <a:prstGeom prst="rect">
            <a:avLst/>
          </a:prstGeom>
        </p:spPr>
      </p:pic>
      <p:pic>
        <p:nvPicPr>
          <p:cNvPr name="Picture 3" id="3"/>
          <p:cNvPicPr>
            <a:picLocks noChangeAspect="true"/>
          </p:cNvPicPr>
          <p:nvPr/>
        </p:nvPicPr>
        <p:blipFill>
          <a:blip r:embed="rId4"/>
          <a:srcRect l="0" t="0" r="0" b="2993"/>
          <a:stretch>
            <a:fillRect/>
          </a:stretch>
        </p:blipFill>
        <p:spPr>
          <a:xfrm flipH="false" flipV="false" rot="0">
            <a:off x="819612" y="2405019"/>
            <a:ext cx="5919525" cy="4662576"/>
          </a:xfrm>
          <a:prstGeom prst="rect">
            <a:avLst/>
          </a:prstGeom>
        </p:spPr>
      </p:pic>
      <p:grpSp>
        <p:nvGrpSpPr>
          <p:cNvPr name="Group 4" id="4"/>
          <p:cNvGrpSpPr/>
          <p:nvPr/>
        </p:nvGrpSpPr>
        <p:grpSpPr>
          <a:xfrm rot="0">
            <a:off x="4714310" y="559388"/>
            <a:ext cx="8562439" cy="938624"/>
            <a:chOff x="0" y="0"/>
            <a:chExt cx="2896430" cy="317510"/>
          </a:xfrm>
        </p:grpSpPr>
        <p:sp>
          <p:nvSpPr>
            <p:cNvPr name="Freeform 5" id="5"/>
            <p:cNvSpPr/>
            <p:nvPr/>
          </p:nvSpPr>
          <p:spPr>
            <a:xfrm>
              <a:off x="0" y="0"/>
              <a:ext cx="2896430" cy="317510"/>
            </a:xfrm>
            <a:custGeom>
              <a:avLst/>
              <a:gdLst/>
              <a:ahLst/>
              <a:cxnLst/>
              <a:rect r="r" b="b" t="t" l="l"/>
              <a:pathLst>
                <a:path h="317510" w="2896430">
                  <a:moveTo>
                    <a:pt x="0" y="0"/>
                  </a:moveTo>
                  <a:lnTo>
                    <a:pt x="2896430" y="0"/>
                  </a:lnTo>
                  <a:lnTo>
                    <a:pt x="2896430" y="317510"/>
                  </a:lnTo>
                  <a:lnTo>
                    <a:pt x="0" y="317510"/>
                  </a:lnTo>
                  <a:close/>
                </a:path>
              </a:pathLst>
            </a:custGeom>
            <a:solidFill>
              <a:srgbClr val="5CE1E6"/>
            </a:solidFill>
          </p:spPr>
        </p:sp>
      </p:grpSp>
      <p:pic>
        <p:nvPicPr>
          <p:cNvPr name="Picture 6" id="6"/>
          <p:cNvPicPr>
            <a:picLocks noChangeAspect="true"/>
          </p:cNvPicPr>
          <p:nvPr/>
        </p:nvPicPr>
        <p:blipFill>
          <a:blip r:embed="rId5"/>
          <a:srcRect l="0" t="0" r="0" b="0"/>
          <a:stretch>
            <a:fillRect/>
          </a:stretch>
        </p:blipFill>
        <p:spPr>
          <a:xfrm flipH="false" flipV="false" rot="0">
            <a:off x="8865701" y="1933575"/>
            <a:ext cx="8802594" cy="5919744"/>
          </a:xfrm>
          <a:prstGeom prst="rect">
            <a:avLst/>
          </a:prstGeom>
        </p:spPr>
      </p:pic>
      <p:sp>
        <p:nvSpPr>
          <p:cNvPr name="TextBox 7" id="7"/>
          <p:cNvSpPr txBox="true"/>
          <p:nvPr/>
        </p:nvSpPr>
        <p:spPr>
          <a:xfrm rot="0">
            <a:off x="14494731" y="8751214"/>
            <a:ext cx="2173153" cy="404574"/>
          </a:xfrm>
          <a:prstGeom prst="rect">
            <a:avLst/>
          </a:prstGeom>
        </p:spPr>
        <p:txBody>
          <a:bodyPr anchor="t" rtlCol="false" tIns="0" lIns="0" bIns="0" rIns="0">
            <a:spAutoFit/>
          </a:bodyPr>
          <a:lstStyle/>
          <a:p>
            <a:pPr algn="ctr">
              <a:lnSpc>
                <a:spcPts val="3030"/>
              </a:lnSpc>
              <a:spcBef>
                <a:spcPct val="0"/>
              </a:spcBef>
            </a:pPr>
            <a:r>
              <a:rPr lang="en-US" sz="3030">
                <a:solidFill>
                  <a:srgbClr val="FFFFFF"/>
                </a:solidFill>
                <a:latin typeface="Nunito"/>
              </a:rPr>
              <a:t>= New ATM </a:t>
            </a:r>
          </a:p>
        </p:txBody>
      </p:sp>
      <p:sp>
        <p:nvSpPr>
          <p:cNvPr name="TextBox 8" id="8"/>
          <p:cNvSpPr txBox="true"/>
          <p:nvPr/>
        </p:nvSpPr>
        <p:spPr>
          <a:xfrm rot="0">
            <a:off x="2848361" y="451445"/>
            <a:ext cx="12294338" cy="1065417"/>
          </a:xfrm>
          <a:prstGeom prst="rect">
            <a:avLst/>
          </a:prstGeom>
        </p:spPr>
        <p:txBody>
          <a:bodyPr anchor="t" rtlCol="false" tIns="0" lIns="0" bIns="0" rIns="0">
            <a:spAutoFit/>
          </a:bodyPr>
          <a:lstStyle/>
          <a:p>
            <a:pPr algn="ctr">
              <a:lnSpc>
                <a:spcPts val="8738"/>
              </a:lnSpc>
            </a:pPr>
            <a:r>
              <a:rPr lang="en-US" sz="6241">
                <a:solidFill>
                  <a:srgbClr val="191919"/>
                </a:solidFill>
                <a:latin typeface="Nunito Bold"/>
              </a:rPr>
              <a:t>Final Recommendation</a:t>
            </a:r>
          </a:p>
        </p:txBody>
      </p:sp>
      <p:sp>
        <p:nvSpPr>
          <p:cNvPr name="TextBox 9" id="9"/>
          <p:cNvSpPr txBox="true"/>
          <p:nvPr/>
        </p:nvSpPr>
        <p:spPr>
          <a:xfrm rot="0">
            <a:off x="0" y="7829825"/>
            <a:ext cx="9428621" cy="1428475"/>
          </a:xfrm>
          <a:prstGeom prst="rect">
            <a:avLst/>
          </a:prstGeom>
        </p:spPr>
        <p:txBody>
          <a:bodyPr anchor="t" rtlCol="false" tIns="0" lIns="0" bIns="0" rIns="0">
            <a:spAutoFit/>
          </a:bodyPr>
          <a:lstStyle/>
          <a:p>
            <a:pPr algn="ctr">
              <a:lnSpc>
                <a:spcPts val="5654"/>
              </a:lnSpc>
              <a:spcBef>
                <a:spcPct val="0"/>
              </a:spcBef>
            </a:pPr>
            <a:r>
              <a:rPr lang="en-US" sz="4349">
                <a:solidFill>
                  <a:srgbClr val="FFFFFF"/>
                </a:solidFill>
                <a:latin typeface="Nunito"/>
              </a:rPr>
              <a:t>Placement of new ATM Outside Male hostel enclosure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0" t="0" r="0" b="0"/>
          <a:stretch>
            <a:fillRect/>
          </a:stretch>
        </p:blipFill>
        <p:spPr>
          <a:xfrm flipH="false" flipV="false" rot="0">
            <a:off x="6456076" y="791319"/>
            <a:ext cx="1194143" cy="1194143"/>
          </a:xfrm>
          <a:prstGeom prst="rect">
            <a:avLst/>
          </a:prstGeom>
        </p:spPr>
      </p:pic>
      <p:grpSp>
        <p:nvGrpSpPr>
          <p:cNvPr name="Group 3" id="3"/>
          <p:cNvGrpSpPr/>
          <p:nvPr/>
        </p:nvGrpSpPr>
        <p:grpSpPr>
          <a:xfrm rot="0">
            <a:off x="1295400" y="791319"/>
            <a:ext cx="4112598" cy="1194143"/>
            <a:chOff x="0" y="0"/>
            <a:chExt cx="1391175" cy="403945"/>
          </a:xfrm>
        </p:grpSpPr>
        <p:sp>
          <p:nvSpPr>
            <p:cNvPr name="Freeform 4" id="4"/>
            <p:cNvSpPr/>
            <p:nvPr/>
          </p:nvSpPr>
          <p:spPr>
            <a:xfrm>
              <a:off x="0" y="0"/>
              <a:ext cx="1391175" cy="403945"/>
            </a:xfrm>
            <a:custGeom>
              <a:avLst/>
              <a:gdLst/>
              <a:ahLst/>
              <a:cxnLst/>
              <a:rect r="r" b="b" t="t" l="l"/>
              <a:pathLst>
                <a:path h="403945" w="1391175">
                  <a:moveTo>
                    <a:pt x="0" y="0"/>
                  </a:moveTo>
                  <a:lnTo>
                    <a:pt x="1391175" y="0"/>
                  </a:lnTo>
                  <a:lnTo>
                    <a:pt x="1391175" y="403945"/>
                  </a:lnTo>
                  <a:lnTo>
                    <a:pt x="0" y="403945"/>
                  </a:lnTo>
                  <a:close/>
                </a:path>
              </a:pathLst>
            </a:custGeom>
            <a:solidFill>
              <a:srgbClr val="5CE1E6"/>
            </a:solidFill>
          </p:spPr>
        </p:sp>
      </p:grpSp>
      <p:sp>
        <p:nvSpPr>
          <p:cNvPr name="TextBox 5" id="5"/>
          <p:cNvSpPr txBox="true"/>
          <p:nvPr/>
        </p:nvSpPr>
        <p:spPr>
          <a:xfrm rot="0">
            <a:off x="1625772" y="638919"/>
            <a:ext cx="10854752" cy="1295400"/>
          </a:xfrm>
          <a:prstGeom prst="rect">
            <a:avLst/>
          </a:prstGeom>
        </p:spPr>
        <p:txBody>
          <a:bodyPr anchor="t" rtlCol="false" tIns="0" lIns="0" bIns="0" rIns="0">
            <a:spAutoFit/>
          </a:bodyPr>
          <a:lstStyle/>
          <a:p>
            <a:pPr>
              <a:lnSpc>
                <a:spcPts val="10500"/>
              </a:lnSpc>
            </a:pPr>
            <a:r>
              <a:rPr lang="en-US" sz="7500">
                <a:solidFill>
                  <a:srgbClr val="191919"/>
                </a:solidFill>
                <a:latin typeface="Nunito Bold"/>
              </a:rPr>
              <a:t>Insights</a:t>
            </a:r>
          </a:p>
        </p:txBody>
      </p:sp>
      <p:sp>
        <p:nvSpPr>
          <p:cNvPr name="TextBox 6" id="6"/>
          <p:cNvSpPr txBox="true"/>
          <p:nvPr/>
        </p:nvSpPr>
        <p:spPr>
          <a:xfrm rot="0">
            <a:off x="1568277" y="2858147"/>
            <a:ext cx="15151446" cy="1735224"/>
          </a:xfrm>
          <a:prstGeom prst="rect">
            <a:avLst/>
          </a:prstGeom>
        </p:spPr>
        <p:txBody>
          <a:bodyPr anchor="t" rtlCol="false" tIns="0" lIns="0" bIns="0" rIns="0">
            <a:spAutoFit/>
          </a:bodyPr>
          <a:lstStyle/>
          <a:p>
            <a:pPr>
              <a:lnSpc>
                <a:spcPts val="4597"/>
              </a:lnSpc>
              <a:spcBef>
                <a:spcPct val="0"/>
              </a:spcBef>
            </a:pPr>
            <a:r>
              <a:rPr lang="en-US" sz="3536">
                <a:solidFill>
                  <a:srgbClr val="FFFFFF"/>
                </a:solidFill>
                <a:latin typeface="Nunito"/>
              </a:rPr>
              <a:t>The solver initially gives us an unfeasible solution because the objective is to maximise utility while also taking into account the distance constraints put forth by the MCLP constraints.</a:t>
            </a:r>
            <a:r>
              <a:rPr lang="en-US" sz="2736">
                <a:solidFill>
                  <a:srgbClr val="FFFFFF"/>
                </a:solidFill>
                <a:latin typeface="Nunito"/>
              </a:rPr>
              <a:t>          </a:t>
            </a:r>
          </a:p>
        </p:txBody>
      </p:sp>
      <p:sp>
        <p:nvSpPr>
          <p:cNvPr name="TextBox 7" id="7"/>
          <p:cNvSpPr txBox="true"/>
          <p:nvPr/>
        </p:nvSpPr>
        <p:spPr>
          <a:xfrm rot="0">
            <a:off x="1568277" y="6894282"/>
            <a:ext cx="13172300" cy="1222275"/>
          </a:xfrm>
          <a:prstGeom prst="rect">
            <a:avLst/>
          </a:prstGeom>
        </p:spPr>
        <p:txBody>
          <a:bodyPr anchor="t" rtlCol="false" tIns="0" lIns="0" bIns="0" rIns="0">
            <a:spAutoFit/>
          </a:bodyPr>
          <a:lstStyle/>
          <a:p>
            <a:pPr>
              <a:lnSpc>
                <a:spcPts val="4900"/>
              </a:lnSpc>
            </a:pPr>
            <a:r>
              <a:rPr lang="en-US" sz="3500">
                <a:solidFill>
                  <a:srgbClr val="FFFFFF"/>
                </a:solidFill>
                <a:latin typeface="Open Sans"/>
              </a:rPr>
              <a:t>Solver then gives us the recommendation to place it in one of the boxes around the male hostel area.</a:t>
            </a:r>
            <a:r>
              <a:rPr lang="en-US" sz="100">
                <a:solidFill>
                  <a:srgbClr val="FFFFFF"/>
                </a:solidFill>
                <a:latin typeface="Arimo"/>
              </a:rPr>
              <a:t> </a:t>
            </a:r>
          </a:p>
        </p:txBody>
      </p:sp>
      <p:sp>
        <p:nvSpPr>
          <p:cNvPr name="TextBox 8" id="8"/>
          <p:cNvSpPr txBox="true"/>
          <p:nvPr/>
        </p:nvSpPr>
        <p:spPr>
          <a:xfrm rot="0">
            <a:off x="1568277" y="4983251"/>
            <a:ext cx="15691023" cy="1226134"/>
          </a:xfrm>
          <a:prstGeom prst="rect">
            <a:avLst/>
          </a:prstGeom>
        </p:spPr>
        <p:txBody>
          <a:bodyPr anchor="t" rtlCol="false" tIns="0" lIns="0" bIns="0" rIns="0">
            <a:spAutoFit/>
          </a:bodyPr>
          <a:lstStyle/>
          <a:p>
            <a:pPr>
              <a:lnSpc>
                <a:spcPts val="4917"/>
              </a:lnSpc>
            </a:pPr>
            <a:r>
              <a:rPr lang="en-US" sz="3512">
                <a:solidFill>
                  <a:srgbClr val="FFFFFF"/>
                </a:solidFill>
                <a:latin typeface="Open Sans"/>
              </a:rPr>
              <a:t>This not only places it at a distance not overlapping with the existing ATMS, but also takes into account the maximisation of utilitly.</a:t>
            </a:r>
            <a:r>
              <a:rPr lang="en-US" sz="156">
                <a:solidFill>
                  <a:srgbClr val="FFFFFF"/>
                </a:solidFill>
                <a:latin typeface="Arimo"/>
              </a:rPr>
              <a: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91919"/>
        </a:solidFill>
      </p:bgPr>
    </p:bg>
    <p:spTree>
      <p:nvGrpSpPr>
        <p:cNvPr id="1" name=""/>
        <p:cNvGrpSpPr/>
        <p:nvPr/>
      </p:nvGrpSpPr>
      <p:grpSpPr>
        <a:xfrm>
          <a:off x="0" y="0"/>
          <a:ext cx="0" cy="0"/>
          <a:chOff x="0" y="0"/>
          <a:chExt cx="0" cy="0"/>
        </a:xfrm>
      </p:grpSpPr>
      <p:sp>
        <p:nvSpPr>
          <p:cNvPr name="AutoShape 2" id="2"/>
          <p:cNvSpPr/>
          <p:nvPr/>
        </p:nvSpPr>
        <p:spPr>
          <a:xfrm rot="-2700000">
            <a:off x="5697365" y="351085"/>
            <a:ext cx="3368557" cy="117795"/>
          </a:xfrm>
          <a:prstGeom prst="rect">
            <a:avLst/>
          </a:prstGeom>
          <a:solidFill>
            <a:srgbClr val="292929"/>
          </a:solidFill>
        </p:spPr>
      </p:sp>
      <p:grpSp>
        <p:nvGrpSpPr>
          <p:cNvPr name="Group 3" id="3"/>
          <p:cNvGrpSpPr/>
          <p:nvPr/>
        </p:nvGrpSpPr>
        <p:grpSpPr>
          <a:xfrm rot="0">
            <a:off x="10090183" y="409982"/>
            <a:ext cx="7169117" cy="990650"/>
            <a:chOff x="0" y="0"/>
            <a:chExt cx="2158647" cy="298288"/>
          </a:xfrm>
        </p:grpSpPr>
        <p:sp>
          <p:nvSpPr>
            <p:cNvPr name="Freeform 4" id="4"/>
            <p:cNvSpPr/>
            <p:nvPr/>
          </p:nvSpPr>
          <p:spPr>
            <a:xfrm>
              <a:off x="0" y="0"/>
              <a:ext cx="2158647" cy="298288"/>
            </a:xfrm>
            <a:custGeom>
              <a:avLst/>
              <a:gdLst/>
              <a:ahLst/>
              <a:cxnLst/>
              <a:rect r="r" b="b" t="t" l="l"/>
              <a:pathLst>
                <a:path h="298288" w="2158647">
                  <a:moveTo>
                    <a:pt x="0" y="0"/>
                  </a:moveTo>
                  <a:lnTo>
                    <a:pt x="2158647" y="0"/>
                  </a:lnTo>
                  <a:lnTo>
                    <a:pt x="2158647" y="298288"/>
                  </a:lnTo>
                  <a:lnTo>
                    <a:pt x="0" y="298288"/>
                  </a:lnTo>
                  <a:close/>
                </a:path>
              </a:pathLst>
            </a:custGeom>
            <a:solidFill>
              <a:srgbClr val="5CE1E6"/>
            </a:solidFill>
          </p:spPr>
        </p:sp>
      </p:grpSp>
      <p:grpSp>
        <p:nvGrpSpPr>
          <p:cNvPr name="Group 5" id="5"/>
          <p:cNvGrpSpPr/>
          <p:nvPr/>
        </p:nvGrpSpPr>
        <p:grpSpPr>
          <a:xfrm rot="0">
            <a:off x="397130" y="410355"/>
            <a:ext cx="7429633" cy="990650"/>
            <a:chOff x="0" y="0"/>
            <a:chExt cx="2513234" cy="335109"/>
          </a:xfrm>
        </p:grpSpPr>
        <p:sp>
          <p:nvSpPr>
            <p:cNvPr name="Freeform 6" id="6"/>
            <p:cNvSpPr/>
            <p:nvPr/>
          </p:nvSpPr>
          <p:spPr>
            <a:xfrm>
              <a:off x="0" y="0"/>
              <a:ext cx="2513234" cy="335109"/>
            </a:xfrm>
            <a:custGeom>
              <a:avLst/>
              <a:gdLst/>
              <a:ahLst/>
              <a:cxnLst/>
              <a:rect r="r" b="b" t="t" l="l"/>
              <a:pathLst>
                <a:path h="335109" w="2513234">
                  <a:moveTo>
                    <a:pt x="0" y="0"/>
                  </a:moveTo>
                  <a:lnTo>
                    <a:pt x="2513234" y="0"/>
                  </a:lnTo>
                  <a:lnTo>
                    <a:pt x="2513234" y="335109"/>
                  </a:lnTo>
                  <a:lnTo>
                    <a:pt x="0" y="335109"/>
                  </a:lnTo>
                  <a:close/>
                </a:path>
              </a:pathLst>
            </a:custGeom>
            <a:solidFill>
              <a:srgbClr val="5CE1E6"/>
            </a:solidFill>
          </p:spPr>
        </p:sp>
      </p:grpSp>
      <p:pic>
        <p:nvPicPr>
          <p:cNvPr name="Picture 7" id="7"/>
          <p:cNvPicPr>
            <a:picLocks noChangeAspect="true"/>
          </p:cNvPicPr>
          <p:nvPr/>
        </p:nvPicPr>
        <p:blipFill>
          <a:blip r:embed="rId2"/>
          <a:srcRect l="30939" t="4089" r="0" b="26689"/>
          <a:stretch>
            <a:fillRect/>
          </a:stretch>
        </p:blipFill>
        <p:spPr>
          <a:xfrm flipH="false" flipV="false" rot="0">
            <a:off x="397130" y="1892306"/>
            <a:ext cx="8746870" cy="3589807"/>
          </a:xfrm>
          <a:prstGeom prst="rect">
            <a:avLst/>
          </a:prstGeom>
        </p:spPr>
      </p:pic>
      <p:pic>
        <p:nvPicPr>
          <p:cNvPr name="Picture 8" id="8"/>
          <p:cNvPicPr>
            <a:picLocks noChangeAspect="true"/>
          </p:cNvPicPr>
          <p:nvPr/>
        </p:nvPicPr>
        <p:blipFill>
          <a:blip r:embed="rId3"/>
          <a:srcRect l="6910" t="685" r="43056" b="69865"/>
          <a:stretch>
            <a:fillRect/>
          </a:stretch>
        </p:blipFill>
        <p:spPr>
          <a:xfrm flipH="false" flipV="false" rot="0">
            <a:off x="9546540" y="1892306"/>
            <a:ext cx="8256403" cy="2123075"/>
          </a:xfrm>
          <a:prstGeom prst="rect">
            <a:avLst/>
          </a:prstGeom>
        </p:spPr>
      </p:pic>
      <p:pic>
        <p:nvPicPr>
          <p:cNvPr name="Picture 9" id="9"/>
          <p:cNvPicPr>
            <a:picLocks noChangeAspect="true"/>
          </p:cNvPicPr>
          <p:nvPr/>
        </p:nvPicPr>
        <p:blipFill>
          <a:blip r:embed="rId4"/>
          <a:srcRect l="36726" t="0" r="171" b="46459"/>
          <a:stretch>
            <a:fillRect/>
          </a:stretch>
        </p:blipFill>
        <p:spPr>
          <a:xfrm flipH="false" flipV="false" rot="0">
            <a:off x="9546540" y="4168602"/>
            <a:ext cx="8256403" cy="2627024"/>
          </a:xfrm>
          <a:prstGeom prst="rect">
            <a:avLst/>
          </a:prstGeom>
        </p:spPr>
      </p:pic>
      <p:pic>
        <p:nvPicPr>
          <p:cNvPr name="Picture 10" id="10"/>
          <p:cNvPicPr>
            <a:picLocks noChangeAspect="true"/>
          </p:cNvPicPr>
          <p:nvPr/>
        </p:nvPicPr>
        <p:blipFill>
          <a:blip r:embed="rId5"/>
          <a:srcRect l="0" t="0" r="0" b="0"/>
          <a:stretch>
            <a:fillRect/>
          </a:stretch>
        </p:blipFill>
        <p:spPr>
          <a:xfrm flipH="false" flipV="false" rot="0">
            <a:off x="1604396" y="2506078"/>
            <a:ext cx="469787" cy="895531"/>
          </a:xfrm>
          <a:prstGeom prst="rect">
            <a:avLst/>
          </a:prstGeom>
        </p:spPr>
      </p:pic>
      <p:sp>
        <p:nvSpPr>
          <p:cNvPr name="TextBox 11" id="11"/>
          <p:cNvSpPr txBox="true"/>
          <p:nvPr/>
        </p:nvSpPr>
        <p:spPr>
          <a:xfrm rot="0">
            <a:off x="9352219" y="6937175"/>
            <a:ext cx="8645045" cy="3162787"/>
          </a:xfrm>
          <a:prstGeom prst="rect">
            <a:avLst/>
          </a:prstGeom>
        </p:spPr>
        <p:txBody>
          <a:bodyPr anchor="t" rtlCol="false" tIns="0" lIns="0" bIns="0" rIns="0">
            <a:spAutoFit/>
          </a:bodyPr>
          <a:lstStyle/>
          <a:p>
            <a:pPr>
              <a:lnSpc>
                <a:spcPts val="3577"/>
              </a:lnSpc>
            </a:pPr>
            <a:r>
              <a:rPr lang="en-US" sz="2555">
                <a:solidFill>
                  <a:srgbClr val="FFFFFF"/>
                </a:solidFill>
                <a:latin typeface="Nunito Bold"/>
              </a:rPr>
              <a:t>The alternate answer in which solver displays feasible solution in which existing units (ATM's) can be moved around to maximise demand and coverage as shown in the optimal solution. Investment is not fixed with additional costs of relocating existing ATM's. (Solver relocates SAHSOL ATM to Library node and adds additional ATM to Male Hostel node)</a:t>
            </a:r>
          </a:p>
        </p:txBody>
      </p:sp>
      <p:sp>
        <p:nvSpPr>
          <p:cNvPr name="TextBox 12" id="12"/>
          <p:cNvSpPr txBox="true"/>
          <p:nvPr/>
        </p:nvSpPr>
        <p:spPr>
          <a:xfrm rot="0">
            <a:off x="10133451" y="343306"/>
            <a:ext cx="7082582" cy="1057325"/>
          </a:xfrm>
          <a:prstGeom prst="rect">
            <a:avLst/>
          </a:prstGeom>
        </p:spPr>
        <p:txBody>
          <a:bodyPr anchor="t" rtlCol="false" tIns="0" lIns="0" bIns="0" rIns="0">
            <a:spAutoFit/>
          </a:bodyPr>
          <a:lstStyle/>
          <a:p>
            <a:pPr algn="ctr">
              <a:lnSpc>
                <a:spcPts val="8449"/>
              </a:lnSpc>
              <a:spcBef>
                <a:spcPct val="0"/>
              </a:spcBef>
            </a:pPr>
            <a:r>
              <a:rPr lang="en-US" sz="6499">
                <a:solidFill>
                  <a:srgbClr val="191919"/>
                </a:solidFill>
                <a:latin typeface="Nunito Bold"/>
              </a:rPr>
              <a:t>Alternate Solution</a:t>
            </a:r>
          </a:p>
        </p:txBody>
      </p:sp>
      <p:sp>
        <p:nvSpPr>
          <p:cNvPr name="TextBox 13" id="13"/>
          <p:cNvSpPr txBox="true"/>
          <p:nvPr/>
        </p:nvSpPr>
        <p:spPr>
          <a:xfrm rot="0">
            <a:off x="518528" y="343307"/>
            <a:ext cx="7186836" cy="1057325"/>
          </a:xfrm>
          <a:prstGeom prst="rect">
            <a:avLst/>
          </a:prstGeom>
        </p:spPr>
        <p:txBody>
          <a:bodyPr anchor="t" rtlCol="false" tIns="0" lIns="0" bIns="0" rIns="0">
            <a:spAutoFit/>
          </a:bodyPr>
          <a:lstStyle/>
          <a:p>
            <a:pPr algn="ctr">
              <a:lnSpc>
                <a:spcPts val="8450"/>
              </a:lnSpc>
              <a:spcBef>
                <a:spcPct val="0"/>
              </a:spcBef>
            </a:pPr>
            <a:r>
              <a:rPr lang="en-US" sz="6500">
                <a:solidFill>
                  <a:srgbClr val="191919"/>
                </a:solidFill>
                <a:latin typeface="Nunito Bold"/>
              </a:rPr>
              <a:t>Original Solution</a:t>
            </a:r>
          </a:p>
        </p:txBody>
      </p:sp>
      <p:sp>
        <p:nvSpPr>
          <p:cNvPr name="TextBox 14" id="14"/>
          <p:cNvSpPr txBox="true"/>
          <p:nvPr/>
        </p:nvSpPr>
        <p:spPr>
          <a:xfrm rot="0">
            <a:off x="397130" y="7283836"/>
            <a:ext cx="8645045" cy="2254194"/>
          </a:xfrm>
          <a:prstGeom prst="rect">
            <a:avLst/>
          </a:prstGeom>
        </p:spPr>
        <p:txBody>
          <a:bodyPr anchor="t" rtlCol="false" tIns="0" lIns="0" bIns="0" rIns="0">
            <a:spAutoFit/>
          </a:bodyPr>
          <a:lstStyle/>
          <a:p>
            <a:pPr>
              <a:lnSpc>
                <a:spcPts val="3577"/>
              </a:lnSpc>
            </a:pPr>
            <a:r>
              <a:rPr lang="en-US" sz="2555">
                <a:solidFill>
                  <a:srgbClr val="FFFFFF"/>
                </a:solidFill>
                <a:latin typeface="Nunito Bold"/>
              </a:rPr>
              <a:t>The original answer in which solver displays infeasible solution since the existing units (ATM's) are fixed in the MCLP model. Investment is fixed with cost of one additional ATM. (Solver adds additional ATM to Male Hostel node)</a:t>
            </a:r>
          </a:p>
        </p:txBody>
      </p:sp>
      <p:pic>
        <p:nvPicPr>
          <p:cNvPr name="Picture 15" id="15"/>
          <p:cNvPicPr>
            <a:picLocks noChangeAspect="true"/>
          </p:cNvPicPr>
          <p:nvPr/>
        </p:nvPicPr>
        <p:blipFill>
          <a:blip r:embed="rId5"/>
          <a:srcRect l="0" t="0" r="0" b="0"/>
          <a:stretch>
            <a:fillRect/>
          </a:stretch>
        </p:blipFill>
        <p:spPr>
          <a:xfrm flipH="false" flipV="false" rot="0">
            <a:off x="8572388" y="2322501"/>
            <a:ext cx="469787" cy="895531"/>
          </a:xfrm>
          <a:prstGeom prst="rect">
            <a:avLst/>
          </a:prstGeom>
        </p:spPr>
      </p:pic>
      <p:pic>
        <p:nvPicPr>
          <p:cNvPr name="Picture 16" id="16"/>
          <p:cNvPicPr>
            <a:picLocks noChangeAspect="true"/>
          </p:cNvPicPr>
          <p:nvPr/>
        </p:nvPicPr>
        <p:blipFill>
          <a:blip r:embed="rId5"/>
          <a:srcRect l="0" t="0" r="0" b="0"/>
          <a:stretch>
            <a:fillRect/>
          </a:stretch>
        </p:blipFill>
        <p:spPr>
          <a:xfrm flipH="false" flipV="false" rot="0">
            <a:off x="10425376" y="3119850"/>
            <a:ext cx="469787" cy="895531"/>
          </a:xfrm>
          <a:prstGeom prst="rect">
            <a:avLst/>
          </a:prstGeom>
        </p:spPr>
      </p:pic>
      <p:pic>
        <p:nvPicPr>
          <p:cNvPr name="Picture 17" id="17"/>
          <p:cNvPicPr>
            <a:picLocks noChangeAspect="true"/>
          </p:cNvPicPr>
          <p:nvPr/>
        </p:nvPicPr>
        <p:blipFill>
          <a:blip r:embed="rId5"/>
          <a:srcRect l="0" t="0" r="0" b="0"/>
          <a:stretch>
            <a:fillRect/>
          </a:stretch>
        </p:blipFill>
        <p:spPr>
          <a:xfrm flipH="false" flipV="false" rot="0">
            <a:off x="17333156" y="3239444"/>
            <a:ext cx="469787" cy="895531"/>
          </a:xfrm>
          <a:prstGeom prst="rect">
            <a:avLst/>
          </a:prstGeom>
        </p:spPr>
      </p:pic>
      <p:pic>
        <p:nvPicPr>
          <p:cNvPr name="Picture 18" id="18"/>
          <p:cNvPicPr>
            <a:picLocks noChangeAspect="true"/>
          </p:cNvPicPr>
          <p:nvPr/>
        </p:nvPicPr>
        <p:blipFill>
          <a:blip r:embed="rId5"/>
          <a:srcRect l="0" t="0" r="0" b="0"/>
          <a:stretch>
            <a:fillRect/>
          </a:stretch>
        </p:blipFill>
        <p:spPr>
          <a:xfrm flipH="false" flipV="false" rot="0">
            <a:off x="9955589" y="5143500"/>
            <a:ext cx="469787" cy="895531"/>
          </a:xfrm>
          <a:prstGeom prst="rect">
            <a:avLst/>
          </a:prstGeom>
        </p:spPr>
      </p:pic>
      <p:pic>
        <p:nvPicPr>
          <p:cNvPr name="Picture 19" id="19"/>
          <p:cNvPicPr>
            <a:picLocks noChangeAspect="true"/>
          </p:cNvPicPr>
          <p:nvPr/>
        </p:nvPicPr>
        <p:blipFill>
          <a:blip r:embed="rId5"/>
          <a:srcRect l="0" t="0" r="0" b="0"/>
          <a:stretch>
            <a:fillRect/>
          </a:stretch>
        </p:blipFill>
        <p:spPr>
          <a:xfrm flipH="false" flipV="false" rot="0">
            <a:off x="17259300" y="5034348"/>
            <a:ext cx="469787" cy="895531"/>
          </a:xfrm>
          <a:prstGeom prst="rect">
            <a:avLst/>
          </a:prstGeom>
        </p:spPr>
      </p:pic>
      <p:pic>
        <p:nvPicPr>
          <p:cNvPr name="Picture 20" id="20"/>
          <p:cNvPicPr>
            <a:picLocks noChangeAspect="true"/>
          </p:cNvPicPr>
          <p:nvPr/>
        </p:nvPicPr>
        <p:blipFill>
          <a:blip r:embed="rId5"/>
          <a:srcRect l="0" t="0" r="0" b="0"/>
          <a:stretch>
            <a:fillRect/>
          </a:stretch>
        </p:blipFill>
        <p:spPr>
          <a:xfrm flipH="false" flipV="false" rot="-10800000">
            <a:off x="4249866" y="3401609"/>
            <a:ext cx="469787" cy="895531"/>
          </a:xfrm>
          <a:prstGeom prst="rect">
            <a:avLst/>
          </a:prstGeom>
        </p:spPr>
      </p:pic>
      <p:pic>
        <p:nvPicPr>
          <p:cNvPr name="Picture 21" id="21"/>
          <p:cNvPicPr>
            <a:picLocks noChangeAspect="true"/>
          </p:cNvPicPr>
          <p:nvPr/>
        </p:nvPicPr>
        <p:blipFill>
          <a:blip r:embed="rId5"/>
          <a:srcRect l="0" t="0" r="0" b="0"/>
          <a:stretch>
            <a:fillRect/>
          </a:stretch>
        </p:blipFill>
        <p:spPr>
          <a:xfrm flipH="false" flipV="false" rot="-10800000">
            <a:off x="11494380" y="5591266"/>
            <a:ext cx="469787" cy="89553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DAEtu-A0inQ</dc:identifier>
  <dcterms:modified xsi:type="dcterms:W3CDTF">2011-08-01T06:04:30Z</dcterms:modified>
  <cp:revision>1</cp:revision>
  <dc:title>Black and White Dark Tech Lines Online Game Streaming Creative Presentation</dc:title>
</cp:coreProperties>
</file>